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square">
            <a:spAutoFit/>
          </a:bodyPr>
          <a:lstStyle/>
          <a:p>
            <a:r>
              <a:rPr sz="3600" b="1"/>
              <a:t>Pipeline Scorecard</a:t>
            </a:r>
          </a:p>
        </p:txBody>
      </p:sp>
      <p:sp>
        <p:nvSpPr>
          <p:cNvPr id="3" name="TextBox 2"/>
          <p:cNvSpPr txBox="1"/>
          <p:nvPr/>
        </p:nvSpPr>
        <p:spPr>
          <a:xfrm>
            <a:off x="365760" y="868680"/>
            <a:ext cx="10972800" cy="320040"/>
          </a:xfrm>
          <a:prstGeom prst="rect">
            <a:avLst/>
          </a:prstGeom>
          <a:noFill/>
        </p:spPr>
        <p:txBody>
          <a:bodyPr wrap="square">
            <a:spAutoFit/>
          </a:bodyPr>
          <a:lstStyle/>
          <a:p>
            <a:r>
              <a:rPr sz="1200" b="0">
                <a:solidFill>
                  <a:srgbClr val="888899"/>
                </a:solidFill>
              </a:rPr>
              <a:t>2026-05-31</a:t>
            </a:r>
          </a:p>
        </p:txBody>
      </p:sp>
      <p:sp>
        <p:nvSpPr>
          <p:cNvPr id="4" name="TextBox 3"/>
          <p:cNvSpPr txBox="1"/>
          <p:nvPr/>
        </p:nvSpPr>
        <p:spPr>
          <a:xfrm>
            <a:off x="365760" y="1371600"/>
            <a:ext cx="3383280" cy="365760"/>
          </a:xfrm>
          <a:prstGeom prst="rect">
            <a:avLst/>
          </a:prstGeom>
          <a:noFill/>
        </p:spPr>
        <p:txBody>
          <a:bodyPr wrap="square">
            <a:spAutoFit/>
          </a:bodyPr>
          <a:lstStyle/>
          <a:p>
            <a:r>
              <a:rPr sz="1200" b="1"/>
              <a:t>Deal</a:t>
            </a:r>
          </a:p>
        </p:txBody>
      </p:sp>
      <p:sp>
        <p:nvSpPr>
          <p:cNvPr id="5" name="TextBox 4"/>
          <p:cNvSpPr txBox="1"/>
          <p:nvPr/>
        </p:nvSpPr>
        <p:spPr>
          <a:xfrm>
            <a:off x="3931920" y="1371600"/>
            <a:ext cx="1737360" cy="365760"/>
          </a:xfrm>
          <a:prstGeom prst="rect">
            <a:avLst/>
          </a:prstGeom>
          <a:noFill/>
        </p:spPr>
        <p:txBody>
          <a:bodyPr wrap="square">
            <a:spAutoFit/>
          </a:bodyPr>
          <a:lstStyle/>
          <a:p>
            <a:r>
              <a:rPr sz="1200" b="1"/>
              <a:t>Value</a:t>
            </a:r>
          </a:p>
        </p:txBody>
      </p:sp>
      <p:sp>
        <p:nvSpPr>
          <p:cNvPr id="6" name="TextBox 5"/>
          <p:cNvSpPr txBox="1"/>
          <p:nvPr/>
        </p:nvSpPr>
        <p:spPr>
          <a:xfrm>
            <a:off x="5852160" y="1371600"/>
            <a:ext cx="1737360" cy="365760"/>
          </a:xfrm>
          <a:prstGeom prst="rect">
            <a:avLst/>
          </a:prstGeom>
          <a:noFill/>
        </p:spPr>
        <p:txBody>
          <a:bodyPr wrap="square">
            <a:spAutoFit/>
          </a:bodyPr>
          <a:lstStyle/>
          <a:p>
            <a:r>
              <a:rPr sz="1200" b="1"/>
              <a:t>Close</a:t>
            </a:r>
          </a:p>
        </p:txBody>
      </p:sp>
      <p:sp>
        <p:nvSpPr>
          <p:cNvPr id="7" name="TextBox 6"/>
          <p:cNvSpPr txBox="1"/>
          <p:nvPr/>
        </p:nvSpPr>
        <p:spPr>
          <a:xfrm>
            <a:off x="7772400" y="1371600"/>
            <a:ext cx="1737360" cy="365760"/>
          </a:xfrm>
          <a:prstGeom prst="rect">
            <a:avLst/>
          </a:prstGeom>
          <a:noFill/>
        </p:spPr>
        <p:txBody>
          <a:bodyPr wrap="square">
            <a:spAutoFit/>
          </a:bodyPr>
          <a:lstStyle/>
          <a:p>
            <a:r>
              <a:rPr sz="1200" b="1"/>
              <a:t>Score</a:t>
            </a:r>
          </a:p>
        </p:txBody>
      </p:sp>
      <p:sp>
        <p:nvSpPr>
          <p:cNvPr id="8" name="TextBox 7"/>
          <p:cNvSpPr txBox="1"/>
          <p:nvPr/>
        </p:nvSpPr>
        <p:spPr>
          <a:xfrm>
            <a:off x="9692640" y="1371600"/>
            <a:ext cx="2286000" cy="365760"/>
          </a:xfrm>
          <a:prstGeom prst="rect">
            <a:avLst/>
          </a:prstGeom>
          <a:noFill/>
        </p:spPr>
        <p:txBody>
          <a:bodyPr wrap="square">
            <a:spAutoFit/>
          </a:bodyPr>
          <a:lstStyle/>
          <a:p>
            <a:r>
              <a:rPr sz="1200" b="1"/>
              <a:t>Status</a:t>
            </a:r>
          </a:p>
        </p:txBody>
      </p:sp>
      <p:sp>
        <p:nvSpPr>
          <p:cNvPr id="9" name="TextBox 8"/>
          <p:cNvSpPr txBox="1"/>
          <p:nvPr/>
        </p:nvSpPr>
        <p:spPr>
          <a:xfrm>
            <a:off x="365760" y="1828800"/>
            <a:ext cx="3383280" cy="411480"/>
          </a:xfrm>
          <a:prstGeom prst="rect">
            <a:avLst/>
          </a:prstGeom>
          <a:noFill/>
        </p:spPr>
        <p:txBody>
          <a:bodyPr wrap="square">
            <a:spAutoFit/>
          </a:bodyPr>
          <a:lstStyle/>
          <a:p>
            <a:r>
              <a:rPr sz="1200" b="0"/>
              <a:t>Initech</a:t>
            </a:r>
          </a:p>
        </p:txBody>
      </p:sp>
      <p:sp>
        <p:nvSpPr>
          <p:cNvPr id="10" name="TextBox 9"/>
          <p:cNvSpPr txBox="1"/>
          <p:nvPr/>
        </p:nvSpPr>
        <p:spPr>
          <a:xfrm>
            <a:off x="3931920" y="1828800"/>
            <a:ext cx="1737360" cy="411480"/>
          </a:xfrm>
          <a:prstGeom prst="rect">
            <a:avLst/>
          </a:prstGeom>
          <a:noFill/>
        </p:spPr>
        <p:txBody>
          <a:bodyPr wrap="square">
            <a:spAutoFit/>
          </a:bodyPr>
          <a:lstStyle/>
          <a:p>
            <a:r>
              <a:rPr sz="1200" b="0"/>
              <a:t>$450,000</a:t>
            </a:r>
          </a:p>
        </p:txBody>
      </p:sp>
      <p:sp>
        <p:nvSpPr>
          <p:cNvPr id="11" name="TextBox 10"/>
          <p:cNvSpPr txBox="1"/>
          <p:nvPr/>
        </p:nvSpPr>
        <p:spPr>
          <a:xfrm>
            <a:off x="5852160" y="1828800"/>
            <a:ext cx="1737360" cy="411480"/>
          </a:xfrm>
          <a:prstGeom prst="rect">
            <a:avLst/>
          </a:prstGeom>
          <a:noFill/>
        </p:spPr>
        <p:txBody>
          <a:bodyPr wrap="square">
            <a:spAutoFit/>
          </a:bodyPr>
          <a:lstStyle/>
          <a:p>
            <a:r>
              <a:rPr sz="1200" b="0"/>
              <a:t>2024-05-30</a:t>
            </a:r>
          </a:p>
        </p:txBody>
      </p:sp>
      <p:sp>
        <p:nvSpPr>
          <p:cNvPr id="12" name="TextBox 11"/>
          <p:cNvSpPr txBox="1"/>
          <p:nvPr/>
        </p:nvSpPr>
        <p:spPr>
          <a:xfrm>
            <a:off x="7772400" y="1828800"/>
            <a:ext cx="1737360" cy="411480"/>
          </a:xfrm>
          <a:prstGeom prst="rect">
            <a:avLst/>
          </a:prstGeom>
          <a:noFill/>
        </p:spPr>
        <p:txBody>
          <a:bodyPr wrap="square">
            <a:spAutoFit/>
          </a:bodyPr>
          <a:lstStyle/>
          <a:p>
            <a:r>
              <a:rPr sz="1200" b="0"/>
              <a:t>0%</a:t>
            </a:r>
          </a:p>
        </p:txBody>
      </p:sp>
      <p:sp>
        <p:nvSpPr>
          <p:cNvPr id="13" name="TextBox 12"/>
          <p:cNvSpPr txBox="1"/>
          <p:nvPr/>
        </p:nvSpPr>
        <p:spPr>
          <a:xfrm>
            <a:off x="9692640" y="1828800"/>
            <a:ext cx="2286000" cy="411480"/>
          </a:xfrm>
          <a:prstGeom prst="rect">
            <a:avLst/>
          </a:prstGeom>
          <a:noFill/>
        </p:spPr>
        <p:txBody>
          <a:bodyPr wrap="square">
            <a:spAutoFit/>
          </a:bodyPr>
          <a:lstStyle/>
          <a:p>
            <a:r>
              <a:rPr sz="1200" b="1">
                <a:solidFill>
                  <a:srgbClr val="E53935"/>
                </a:solidFill>
              </a:rPr>
              <a:t>RED</a:t>
            </a:r>
          </a:p>
        </p:txBody>
      </p:sp>
      <p:sp>
        <p:nvSpPr>
          <p:cNvPr id="14" name="TextBox 13"/>
          <p:cNvSpPr txBox="1"/>
          <p:nvPr/>
        </p:nvSpPr>
        <p:spPr>
          <a:xfrm>
            <a:off x="365760" y="2331720"/>
            <a:ext cx="3383280" cy="411480"/>
          </a:xfrm>
          <a:prstGeom prst="rect">
            <a:avLst/>
          </a:prstGeom>
          <a:noFill/>
        </p:spPr>
        <p:txBody>
          <a:bodyPr wrap="square">
            <a:spAutoFit/>
          </a:bodyPr>
          <a:lstStyle/>
          <a:p>
            <a:r>
              <a:rPr sz="1200" b="0"/>
              <a:t>Acme Corp</a:t>
            </a:r>
          </a:p>
        </p:txBody>
      </p:sp>
      <p:sp>
        <p:nvSpPr>
          <p:cNvPr id="15" name="TextBox 14"/>
          <p:cNvSpPr txBox="1"/>
          <p:nvPr/>
        </p:nvSpPr>
        <p:spPr>
          <a:xfrm>
            <a:off x="3931920" y="2331720"/>
            <a:ext cx="1737360" cy="411480"/>
          </a:xfrm>
          <a:prstGeom prst="rect">
            <a:avLst/>
          </a:prstGeom>
          <a:noFill/>
        </p:spPr>
        <p:txBody>
          <a:bodyPr wrap="square">
            <a:spAutoFit/>
          </a:bodyPr>
          <a:lstStyle/>
          <a:p>
            <a:r>
              <a:rPr sz="1200" b="0"/>
              <a:t>$340,000</a:t>
            </a:r>
          </a:p>
        </p:txBody>
      </p:sp>
      <p:sp>
        <p:nvSpPr>
          <p:cNvPr id="16" name="TextBox 15"/>
          <p:cNvSpPr txBox="1"/>
          <p:nvPr/>
        </p:nvSpPr>
        <p:spPr>
          <a:xfrm>
            <a:off x="5852160" y="2331720"/>
            <a:ext cx="1737360" cy="411480"/>
          </a:xfrm>
          <a:prstGeom prst="rect">
            <a:avLst/>
          </a:prstGeom>
          <a:noFill/>
        </p:spPr>
        <p:txBody>
          <a:bodyPr wrap="square">
            <a:spAutoFit/>
          </a:bodyPr>
          <a:lstStyle/>
          <a:p>
            <a:r>
              <a:rPr sz="1200" b="0"/>
              <a:t>2024-06-15</a:t>
            </a:r>
          </a:p>
        </p:txBody>
      </p:sp>
      <p:sp>
        <p:nvSpPr>
          <p:cNvPr id="17" name="TextBox 16"/>
          <p:cNvSpPr txBox="1"/>
          <p:nvPr/>
        </p:nvSpPr>
        <p:spPr>
          <a:xfrm>
            <a:off x="7772400" y="2331720"/>
            <a:ext cx="1737360" cy="411480"/>
          </a:xfrm>
          <a:prstGeom prst="rect">
            <a:avLst/>
          </a:prstGeom>
          <a:noFill/>
        </p:spPr>
        <p:txBody>
          <a:bodyPr wrap="square">
            <a:spAutoFit/>
          </a:bodyPr>
          <a:lstStyle/>
          <a:p>
            <a:r>
              <a:rPr sz="1200" b="0"/>
              <a:t>0%</a:t>
            </a:r>
          </a:p>
        </p:txBody>
      </p:sp>
      <p:sp>
        <p:nvSpPr>
          <p:cNvPr id="18" name="TextBox 17"/>
          <p:cNvSpPr txBox="1"/>
          <p:nvPr/>
        </p:nvSpPr>
        <p:spPr>
          <a:xfrm>
            <a:off x="9692640" y="2331720"/>
            <a:ext cx="2286000" cy="411480"/>
          </a:xfrm>
          <a:prstGeom prst="rect">
            <a:avLst/>
          </a:prstGeom>
          <a:noFill/>
        </p:spPr>
        <p:txBody>
          <a:bodyPr wrap="square">
            <a:spAutoFit/>
          </a:bodyPr>
          <a:lstStyle/>
          <a:p>
            <a:r>
              <a:rPr sz="1200" b="1">
                <a:solidFill>
                  <a:srgbClr val="E53935"/>
                </a:solidFill>
              </a:rPr>
              <a:t>RED</a:t>
            </a:r>
          </a:p>
        </p:txBody>
      </p:sp>
      <p:sp>
        <p:nvSpPr>
          <p:cNvPr id="19" name="TextBox 18"/>
          <p:cNvSpPr txBox="1"/>
          <p:nvPr/>
        </p:nvSpPr>
        <p:spPr>
          <a:xfrm>
            <a:off x="365760" y="2834640"/>
            <a:ext cx="3383280" cy="411480"/>
          </a:xfrm>
          <a:prstGeom prst="rect">
            <a:avLst/>
          </a:prstGeom>
          <a:noFill/>
        </p:spPr>
        <p:txBody>
          <a:bodyPr wrap="square">
            <a:spAutoFit/>
          </a:bodyPr>
          <a:lstStyle/>
          <a:p>
            <a:r>
              <a:rPr sz="1200" b="0"/>
              <a:t>Globex Inc</a:t>
            </a:r>
          </a:p>
        </p:txBody>
      </p:sp>
      <p:sp>
        <p:nvSpPr>
          <p:cNvPr id="20" name="TextBox 19"/>
          <p:cNvSpPr txBox="1"/>
          <p:nvPr/>
        </p:nvSpPr>
        <p:spPr>
          <a:xfrm>
            <a:off x="3931920" y="2834640"/>
            <a:ext cx="1737360" cy="411480"/>
          </a:xfrm>
          <a:prstGeom prst="rect">
            <a:avLst/>
          </a:prstGeom>
          <a:noFill/>
        </p:spPr>
        <p:txBody>
          <a:bodyPr wrap="square">
            <a:spAutoFit/>
          </a:bodyPr>
          <a:lstStyle/>
          <a:p>
            <a:r>
              <a:rPr sz="1200" b="0"/>
              <a:t>$180,000</a:t>
            </a:r>
          </a:p>
        </p:txBody>
      </p:sp>
      <p:sp>
        <p:nvSpPr>
          <p:cNvPr id="21" name="TextBox 20"/>
          <p:cNvSpPr txBox="1"/>
          <p:nvPr/>
        </p:nvSpPr>
        <p:spPr>
          <a:xfrm>
            <a:off x="5852160" y="2834640"/>
            <a:ext cx="1737360" cy="411480"/>
          </a:xfrm>
          <a:prstGeom prst="rect">
            <a:avLst/>
          </a:prstGeom>
          <a:noFill/>
        </p:spPr>
        <p:txBody>
          <a:bodyPr wrap="square">
            <a:spAutoFit/>
          </a:bodyPr>
          <a:lstStyle/>
          <a:p>
            <a:r>
              <a:rPr sz="1200" b="0"/>
              <a:t>2024-06-20</a:t>
            </a:r>
          </a:p>
        </p:txBody>
      </p:sp>
      <p:sp>
        <p:nvSpPr>
          <p:cNvPr id="22" name="TextBox 21"/>
          <p:cNvSpPr txBox="1"/>
          <p:nvPr/>
        </p:nvSpPr>
        <p:spPr>
          <a:xfrm>
            <a:off x="7772400" y="2834640"/>
            <a:ext cx="1737360" cy="411480"/>
          </a:xfrm>
          <a:prstGeom prst="rect">
            <a:avLst/>
          </a:prstGeom>
          <a:noFill/>
        </p:spPr>
        <p:txBody>
          <a:bodyPr wrap="square">
            <a:spAutoFit/>
          </a:bodyPr>
          <a:lstStyle/>
          <a:p>
            <a:r>
              <a:rPr sz="1200" b="0"/>
              <a:t>30%</a:t>
            </a:r>
          </a:p>
        </p:txBody>
      </p:sp>
      <p:sp>
        <p:nvSpPr>
          <p:cNvPr id="23" name="TextBox 22"/>
          <p:cNvSpPr txBox="1"/>
          <p:nvPr/>
        </p:nvSpPr>
        <p:spPr>
          <a:xfrm>
            <a:off x="9692640" y="2834640"/>
            <a:ext cx="2286000" cy="411480"/>
          </a:xfrm>
          <a:prstGeom prst="rect">
            <a:avLst/>
          </a:prstGeom>
          <a:noFill/>
        </p:spPr>
        <p:txBody>
          <a:bodyPr wrap="square">
            <a:spAutoFit/>
          </a:bodyPr>
          <a:lstStyle/>
          <a:p>
            <a:r>
              <a:rPr sz="1200" b="1">
                <a:solidFill>
                  <a:srgbClr val="E53935"/>
                </a:solidFill>
              </a:rPr>
              <a:t>RED</a:t>
            </a:r>
          </a:p>
        </p:txBody>
      </p:sp>
      <p:sp>
        <p:nvSpPr>
          <p:cNvPr id="24" name="TextBox 23"/>
          <p:cNvSpPr txBox="1"/>
          <p:nvPr/>
        </p:nvSpPr>
        <p:spPr>
          <a:xfrm>
            <a:off x="365760" y="3337560"/>
            <a:ext cx="3383280" cy="411480"/>
          </a:xfrm>
          <a:prstGeom prst="rect">
            <a:avLst/>
          </a:prstGeom>
          <a:noFill/>
        </p:spPr>
        <p:txBody>
          <a:bodyPr wrap="square">
            <a:spAutoFit/>
          </a:bodyPr>
          <a:lstStyle/>
          <a:p>
            <a:r>
              <a:rPr sz="1200" b="0"/>
              <a:t>Umbrella Corp</a:t>
            </a:r>
          </a:p>
        </p:txBody>
      </p:sp>
      <p:sp>
        <p:nvSpPr>
          <p:cNvPr id="25" name="TextBox 24"/>
          <p:cNvSpPr txBox="1"/>
          <p:nvPr/>
        </p:nvSpPr>
        <p:spPr>
          <a:xfrm>
            <a:off x="3931920" y="3337560"/>
            <a:ext cx="1737360" cy="411480"/>
          </a:xfrm>
          <a:prstGeom prst="rect">
            <a:avLst/>
          </a:prstGeom>
          <a:noFill/>
        </p:spPr>
        <p:txBody>
          <a:bodyPr wrap="square">
            <a:spAutoFit/>
          </a:bodyPr>
          <a:lstStyle/>
          <a:p>
            <a:r>
              <a:rPr sz="1200" b="0"/>
              <a:t>$650,000</a:t>
            </a:r>
          </a:p>
        </p:txBody>
      </p:sp>
      <p:sp>
        <p:nvSpPr>
          <p:cNvPr id="26" name="TextBox 25"/>
          <p:cNvSpPr txBox="1"/>
          <p:nvPr/>
        </p:nvSpPr>
        <p:spPr>
          <a:xfrm>
            <a:off x="5852160" y="3337560"/>
            <a:ext cx="1737360" cy="411480"/>
          </a:xfrm>
          <a:prstGeom prst="rect">
            <a:avLst/>
          </a:prstGeom>
          <a:noFill/>
        </p:spPr>
        <p:txBody>
          <a:bodyPr wrap="square">
            <a:spAutoFit/>
          </a:bodyPr>
          <a:lstStyle/>
          <a:p>
            <a:r>
              <a:rPr sz="1200" b="0"/>
              <a:t>2024-07-10</a:t>
            </a:r>
          </a:p>
        </p:txBody>
      </p:sp>
      <p:sp>
        <p:nvSpPr>
          <p:cNvPr id="27" name="TextBox 26"/>
          <p:cNvSpPr txBox="1"/>
          <p:nvPr/>
        </p:nvSpPr>
        <p:spPr>
          <a:xfrm>
            <a:off x="7772400" y="3337560"/>
            <a:ext cx="1737360" cy="411480"/>
          </a:xfrm>
          <a:prstGeom prst="rect">
            <a:avLst/>
          </a:prstGeom>
          <a:noFill/>
        </p:spPr>
        <p:txBody>
          <a:bodyPr wrap="square">
            <a:spAutoFit/>
          </a:bodyPr>
          <a:lstStyle/>
          <a:p>
            <a:r>
              <a:rPr sz="1200" b="0"/>
              <a:t>35%</a:t>
            </a:r>
          </a:p>
        </p:txBody>
      </p:sp>
      <p:sp>
        <p:nvSpPr>
          <p:cNvPr id="28" name="TextBox 27"/>
          <p:cNvSpPr txBox="1"/>
          <p:nvPr/>
        </p:nvSpPr>
        <p:spPr>
          <a:xfrm>
            <a:off x="9692640" y="3337560"/>
            <a:ext cx="2286000" cy="411480"/>
          </a:xfrm>
          <a:prstGeom prst="rect">
            <a:avLst/>
          </a:prstGeom>
          <a:noFill/>
        </p:spPr>
        <p:txBody>
          <a:bodyPr wrap="square">
            <a:spAutoFit/>
          </a:bodyPr>
          <a:lstStyle/>
          <a:p>
            <a:r>
              <a:rPr sz="1200" b="1">
                <a:solidFill>
                  <a:srgbClr val="E53935"/>
                </a:solidFill>
              </a:rPr>
              <a:t>RED</a:t>
            </a:r>
          </a:p>
        </p:txBody>
      </p:sp>
      <p:sp>
        <p:nvSpPr>
          <p:cNvPr id="29" name="TextBox 28"/>
          <p:cNvSpPr txBox="1"/>
          <p:nvPr/>
        </p:nvSpPr>
        <p:spPr>
          <a:xfrm>
            <a:off x="365760" y="3840480"/>
            <a:ext cx="3383280" cy="411480"/>
          </a:xfrm>
          <a:prstGeom prst="rect">
            <a:avLst/>
          </a:prstGeom>
          <a:noFill/>
        </p:spPr>
        <p:txBody>
          <a:bodyPr wrap="square">
            <a:spAutoFit/>
          </a:bodyPr>
          <a:lstStyle/>
          <a:p>
            <a:r>
              <a:rPr sz="1200" b="0"/>
              <a:t>Stark Ind</a:t>
            </a:r>
          </a:p>
        </p:txBody>
      </p:sp>
      <p:sp>
        <p:nvSpPr>
          <p:cNvPr id="30" name="TextBox 29"/>
          <p:cNvSpPr txBox="1"/>
          <p:nvPr/>
        </p:nvSpPr>
        <p:spPr>
          <a:xfrm>
            <a:off x="3931920" y="3840480"/>
            <a:ext cx="1737360" cy="411480"/>
          </a:xfrm>
          <a:prstGeom prst="rect">
            <a:avLst/>
          </a:prstGeom>
          <a:noFill/>
        </p:spPr>
        <p:txBody>
          <a:bodyPr wrap="square">
            <a:spAutoFit/>
          </a:bodyPr>
          <a:lstStyle/>
          <a:p>
            <a:r>
              <a:rPr sz="1200" b="0"/>
              <a:t>$850,000</a:t>
            </a:r>
          </a:p>
        </p:txBody>
      </p:sp>
      <p:sp>
        <p:nvSpPr>
          <p:cNvPr id="31" name="TextBox 30"/>
          <p:cNvSpPr txBox="1"/>
          <p:nvPr/>
        </p:nvSpPr>
        <p:spPr>
          <a:xfrm>
            <a:off x="5852160" y="3840480"/>
            <a:ext cx="1737360" cy="411480"/>
          </a:xfrm>
          <a:prstGeom prst="rect">
            <a:avLst/>
          </a:prstGeom>
          <a:noFill/>
        </p:spPr>
        <p:txBody>
          <a:bodyPr wrap="square">
            <a:spAutoFit/>
          </a:bodyPr>
          <a:lstStyle/>
          <a:p>
            <a:r>
              <a:rPr sz="1200" b="0"/>
              <a:t>2024-06-05</a:t>
            </a:r>
          </a:p>
        </p:txBody>
      </p:sp>
      <p:sp>
        <p:nvSpPr>
          <p:cNvPr id="32" name="TextBox 31"/>
          <p:cNvSpPr txBox="1"/>
          <p:nvPr/>
        </p:nvSpPr>
        <p:spPr>
          <a:xfrm>
            <a:off x="7772400" y="3840480"/>
            <a:ext cx="1737360" cy="411480"/>
          </a:xfrm>
          <a:prstGeom prst="rect">
            <a:avLst/>
          </a:prstGeom>
          <a:noFill/>
        </p:spPr>
        <p:txBody>
          <a:bodyPr wrap="square">
            <a:spAutoFit/>
          </a:bodyPr>
          <a:lstStyle/>
          <a:p>
            <a:r>
              <a:rPr sz="1200" b="0"/>
              <a:t>55%</a:t>
            </a:r>
          </a:p>
        </p:txBody>
      </p:sp>
      <p:sp>
        <p:nvSpPr>
          <p:cNvPr id="33" name="TextBox 32"/>
          <p:cNvSpPr txBox="1"/>
          <p:nvPr/>
        </p:nvSpPr>
        <p:spPr>
          <a:xfrm>
            <a:off x="9692640" y="3840480"/>
            <a:ext cx="2286000" cy="411480"/>
          </a:xfrm>
          <a:prstGeom prst="rect">
            <a:avLst/>
          </a:prstGeom>
          <a:noFill/>
        </p:spPr>
        <p:txBody>
          <a:bodyPr wrap="square">
            <a:spAutoFit/>
          </a:bodyPr>
          <a:lstStyle/>
          <a:p>
            <a:r>
              <a:rPr sz="1200" b="1">
                <a:solidFill>
                  <a:srgbClr val="F5A623"/>
                </a:solidFill>
              </a:rPr>
              <a:t>AMBER</a:t>
            </a:r>
          </a:p>
        </p:txBody>
      </p:sp>
      <p:sp>
        <p:nvSpPr>
          <p:cNvPr id="34" name="TextBox 33"/>
          <p:cNvSpPr txBox="1"/>
          <p:nvPr/>
        </p:nvSpPr>
        <p:spPr>
          <a:xfrm>
            <a:off x="365760" y="4343400"/>
            <a:ext cx="3383280" cy="411480"/>
          </a:xfrm>
          <a:prstGeom prst="rect">
            <a:avLst/>
          </a:prstGeom>
          <a:noFill/>
        </p:spPr>
        <p:txBody>
          <a:bodyPr wrap="square">
            <a:spAutoFit/>
          </a:bodyPr>
          <a:lstStyle/>
          <a:p>
            <a:r>
              <a:rPr sz="1200" b="0"/>
              <a:t>Wayne Ent</a:t>
            </a:r>
          </a:p>
        </p:txBody>
      </p:sp>
      <p:sp>
        <p:nvSpPr>
          <p:cNvPr id="35" name="TextBox 34"/>
          <p:cNvSpPr txBox="1"/>
          <p:nvPr/>
        </p:nvSpPr>
        <p:spPr>
          <a:xfrm>
            <a:off x="3931920" y="4343400"/>
            <a:ext cx="1737360" cy="411480"/>
          </a:xfrm>
          <a:prstGeom prst="rect">
            <a:avLst/>
          </a:prstGeom>
          <a:noFill/>
        </p:spPr>
        <p:txBody>
          <a:bodyPr wrap="square">
            <a:spAutoFit/>
          </a:bodyPr>
          <a:lstStyle/>
          <a:p>
            <a:r>
              <a:rPr sz="1200" b="0"/>
              <a:t>$500,000</a:t>
            </a:r>
          </a:p>
        </p:txBody>
      </p:sp>
      <p:sp>
        <p:nvSpPr>
          <p:cNvPr id="36" name="TextBox 35"/>
          <p:cNvSpPr txBox="1"/>
          <p:nvPr/>
        </p:nvSpPr>
        <p:spPr>
          <a:xfrm>
            <a:off x="5852160" y="4343400"/>
            <a:ext cx="1737360" cy="411480"/>
          </a:xfrm>
          <a:prstGeom prst="rect">
            <a:avLst/>
          </a:prstGeom>
          <a:noFill/>
        </p:spPr>
        <p:txBody>
          <a:bodyPr wrap="square">
            <a:spAutoFit/>
          </a:bodyPr>
          <a:lstStyle/>
          <a:p>
            <a:r>
              <a:rPr sz="1200" b="0"/>
              <a:t>2024-06-25</a:t>
            </a:r>
          </a:p>
        </p:txBody>
      </p:sp>
      <p:sp>
        <p:nvSpPr>
          <p:cNvPr id="37" name="TextBox 36"/>
          <p:cNvSpPr txBox="1"/>
          <p:nvPr/>
        </p:nvSpPr>
        <p:spPr>
          <a:xfrm>
            <a:off x="7772400" y="4343400"/>
            <a:ext cx="1737360" cy="411480"/>
          </a:xfrm>
          <a:prstGeom prst="rect">
            <a:avLst/>
          </a:prstGeom>
          <a:noFill/>
        </p:spPr>
        <p:txBody>
          <a:bodyPr wrap="square">
            <a:spAutoFit/>
          </a:bodyPr>
          <a:lstStyle/>
          <a:p>
            <a:r>
              <a:rPr sz="1200" b="0"/>
              <a:t>70%</a:t>
            </a:r>
          </a:p>
        </p:txBody>
      </p:sp>
      <p:sp>
        <p:nvSpPr>
          <p:cNvPr id="38" name="TextBox 37"/>
          <p:cNvSpPr txBox="1"/>
          <p:nvPr/>
        </p:nvSpPr>
        <p:spPr>
          <a:xfrm>
            <a:off x="9692640" y="4343400"/>
            <a:ext cx="2286000" cy="411480"/>
          </a:xfrm>
          <a:prstGeom prst="rect">
            <a:avLst/>
          </a:prstGeom>
          <a:noFill/>
        </p:spPr>
        <p:txBody>
          <a:bodyPr wrap="square">
            <a:spAutoFit/>
          </a:bodyPr>
          <a:lstStyle/>
          <a:p>
            <a:r>
              <a:rPr sz="1200" b="1">
                <a:solidFill>
                  <a:srgbClr val="F5A623"/>
                </a:solidFill>
              </a:rPr>
              <a:t>AMBER</a:t>
            </a:r>
          </a:p>
        </p:txBody>
      </p:sp>
      <p:sp>
        <p:nvSpPr>
          <p:cNvPr id="39" name="TextBox 38"/>
          <p:cNvSpPr txBox="1"/>
          <p:nvPr/>
        </p:nvSpPr>
        <p:spPr>
          <a:xfrm>
            <a:off x="365760" y="4846320"/>
            <a:ext cx="3383280" cy="411480"/>
          </a:xfrm>
          <a:prstGeom prst="rect">
            <a:avLst/>
          </a:prstGeom>
          <a:noFill/>
        </p:spPr>
        <p:txBody>
          <a:bodyPr wrap="square">
            <a:spAutoFit/>
          </a:bodyPr>
          <a:lstStyle/>
          <a:p>
            <a:r>
              <a:rPr sz="1200" b="0"/>
              <a:t>Cyberdyne</a:t>
            </a:r>
          </a:p>
        </p:txBody>
      </p:sp>
      <p:sp>
        <p:nvSpPr>
          <p:cNvPr id="40" name="TextBox 39"/>
          <p:cNvSpPr txBox="1"/>
          <p:nvPr/>
        </p:nvSpPr>
        <p:spPr>
          <a:xfrm>
            <a:off x="3931920" y="4846320"/>
            <a:ext cx="1737360" cy="411480"/>
          </a:xfrm>
          <a:prstGeom prst="rect">
            <a:avLst/>
          </a:prstGeom>
          <a:noFill/>
        </p:spPr>
        <p:txBody>
          <a:bodyPr wrap="square">
            <a:spAutoFit/>
          </a:bodyPr>
          <a:lstStyle/>
          <a:p>
            <a:r>
              <a:rPr sz="1200" b="0"/>
              <a:t>$900,000</a:t>
            </a:r>
          </a:p>
        </p:txBody>
      </p:sp>
      <p:sp>
        <p:nvSpPr>
          <p:cNvPr id="41" name="TextBox 40"/>
          <p:cNvSpPr txBox="1"/>
          <p:nvPr/>
        </p:nvSpPr>
        <p:spPr>
          <a:xfrm>
            <a:off x="5852160" y="4846320"/>
            <a:ext cx="1737360" cy="411480"/>
          </a:xfrm>
          <a:prstGeom prst="rect">
            <a:avLst/>
          </a:prstGeom>
          <a:noFill/>
        </p:spPr>
        <p:txBody>
          <a:bodyPr wrap="square">
            <a:spAutoFit/>
          </a:bodyPr>
          <a:lstStyle/>
          <a:p>
            <a:r>
              <a:rPr sz="1200" b="0"/>
              <a:t>2024-06-10</a:t>
            </a:r>
          </a:p>
        </p:txBody>
      </p:sp>
      <p:sp>
        <p:nvSpPr>
          <p:cNvPr id="42" name="TextBox 41"/>
          <p:cNvSpPr txBox="1"/>
          <p:nvPr/>
        </p:nvSpPr>
        <p:spPr>
          <a:xfrm>
            <a:off x="7772400" y="4846320"/>
            <a:ext cx="1737360" cy="411480"/>
          </a:xfrm>
          <a:prstGeom prst="rect">
            <a:avLst/>
          </a:prstGeom>
          <a:noFill/>
        </p:spPr>
        <p:txBody>
          <a:bodyPr wrap="square">
            <a:spAutoFit/>
          </a:bodyPr>
          <a:lstStyle/>
          <a:p>
            <a:r>
              <a:rPr sz="1200" b="0"/>
              <a:t>100%</a:t>
            </a:r>
          </a:p>
        </p:txBody>
      </p:sp>
      <p:sp>
        <p:nvSpPr>
          <p:cNvPr id="43" name="TextBox 42"/>
          <p:cNvSpPr txBox="1"/>
          <p:nvPr/>
        </p:nvSpPr>
        <p:spPr>
          <a:xfrm>
            <a:off x="9692640" y="4846320"/>
            <a:ext cx="2286000" cy="411480"/>
          </a:xfrm>
          <a:prstGeom prst="rect">
            <a:avLst/>
          </a:prstGeom>
          <a:noFill/>
        </p:spPr>
        <p:txBody>
          <a:bodyPr wrap="square">
            <a:spAutoFit/>
          </a:bodyPr>
          <a:lstStyle/>
          <a:p>
            <a:r>
              <a:rPr sz="1200" b="1">
                <a:solidFill>
                  <a:srgbClr val="1DB954"/>
                </a:solidFill>
              </a:rPr>
              <a:t>GREEN</a:t>
            </a:r>
          </a:p>
        </p:txBody>
      </p:sp>
      <p:sp>
        <p:nvSpPr>
          <p:cNvPr id="44" name="TextBox 43"/>
          <p:cNvSpPr txBox="1"/>
          <p:nvPr/>
        </p:nvSpPr>
        <p:spPr>
          <a:xfrm>
            <a:off x="365760" y="5349240"/>
            <a:ext cx="3383280" cy="411480"/>
          </a:xfrm>
          <a:prstGeom prst="rect">
            <a:avLst/>
          </a:prstGeom>
          <a:noFill/>
        </p:spPr>
        <p:txBody>
          <a:bodyPr wrap="square">
            <a:spAutoFit/>
          </a:bodyPr>
          <a:lstStyle/>
          <a:p>
            <a:r>
              <a:rPr sz="1200" b="0"/>
              <a:t>Massive Dynamic</a:t>
            </a:r>
          </a:p>
        </p:txBody>
      </p:sp>
      <p:sp>
        <p:nvSpPr>
          <p:cNvPr id="45" name="TextBox 44"/>
          <p:cNvSpPr txBox="1"/>
          <p:nvPr/>
        </p:nvSpPr>
        <p:spPr>
          <a:xfrm>
            <a:off x="3931920" y="5349240"/>
            <a:ext cx="1737360" cy="411480"/>
          </a:xfrm>
          <a:prstGeom prst="rect">
            <a:avLst/>
          </a:prstGeom>
          <a:noFill/>
        </p:spPr>
        <p:txBody>
          <a:bodyPr wrap="square">
            <a:spAutoFit/>
          </a:bodyPr>
          <a:lstStyle/>
          <a:p>
            <a:r>
              <a:rPr sz="1200" b="0"/>
              <a:t>$720,000</a:t>
            </a:r>
          </a:p>
        </p:txBody>
      </p:sp>
      <p:sp>
        <p:nvSpPr>
          <p:cNvPr id="46" name="TextBox 45"/>
          <p:cNvSpPr txBox="1"/>
          <p:nvPr/>
        </p:nvSpPr>
        <p:spPr>
          <a:xfrm>
            <a:off x="5852160" y="5349240"/>
            <a:ext cx="1737360" cy="411480"/>
          </a:xfrm>
          <a:prstGeom prst="rect">
            <a:avLst/>
          </a:prstGeom>
          <a:noFill/>
        </p:spPr>
        <p:txBody>
          <a:bodyPr wrap="square">
            <a:spAutoFit/>
          </a:bodyPr>
          <a:lstStyle/>
          <a:p>
            <a:r>
              <a:rPr sz="1200" b="0"/>
              <a:t>2024-05-28</a:t>
            </a:r>
          </a:p>
        </p:txBody>
      </p:sp>
      <p:sp>
        <p:nvSpPr>
          <p:cNvPr id="47" name="TextBox 46"/>
          <p:cNvSpPr txBox="1"/>
          <p:nvPr/>
        </p:nvSpPr>
        <p:spPr>
          <a:xfrm>
            <a:off x="7772400" y="5349240"/>
            <a:ext cx="1737360" cy="411480"/>
          </a:xfrm>
          <a:prstGeom prst="rect">
            <a:avLst/>
          </a:prstGeom>
          <a:noFill/>
        </p:spPr>
        <p:txBody>
          <a:bodyPr wrap="square">
            <a:spAutoFit/>
          </a:bodyPr>
          <a:lstStyle/>
          <a:p>
            <a:r>
              <a:rPr sz="1200" b="0"/>
              <a:t>100%</a:t>
            </a:r>
          </a:p>
        </p:txBody>
      </p:sp>
      <p:sp>
        <p:nvSpPr>
          <p:cNvPr id="48" name="TextBox 47"/>
          <p:cNvSpPr txBox="1"/>
          <p:nvPr/>
        </p:nvSpPr>
        <p:spPr>
          <a:xfrm>
            <a:off x="9692640" y="5349240"/>
            <a:ext cx="2286000" cy="411480"/>
          </a:xfrm>
          <a:prstGeom prst="rect">
            <a:avLst/>
          </a:prstGeom>
          <a:noFill/>
        </p:spPr>
        <p:txBody>
          <a:bodyPr wrap="square">
            <a:spAutoFit/>
          </a:bodyPr>
          <a:lstStyle/>
          <a:p>
            <a:r>
              <a:rPr sz="1200" b="1">
                <a:solidFill>
                  <a:srgbClr val="1DB954"/>
                </a:solidFill>
              </a:rPr>
              <a:t>GREEN</a:t>
            </a:r>
          </a:p>
        </p:txBody>
      </p:sp>
      <p:sp>
        <p:nvSpPr>
          <p:cNvPr id="49" name="TextBox 48"/>
          <p:cNvSpPr txBox="1"/>
          <p:nvPr/>
        </p:nvSpPr>
        <p:spPr>
          <a:xfrm>
            <a:off x="365760" y="5852160"/>
            <a:ext cx="3383280" cy="411480"/>
          </a:xfrm>
          <a:prstGeom prst="rect">
            <a:avLst/>
          </a:prstGeom>
          <a:noFill/>
        </p:spPr>
        <p:txBody>
          <a:bodyPr wrap="square">
            <a:spAutoFit/>
          </a:bodyPr>
          <a:lstStyle/>
          <a:p>
            <a:r>
              <a:rPr sz="1200" b="0"/>
              <a:t>Oscorp</a:t>
            </a:r>
          </a:p>
        </p:txBody>
      </p:sp>
      <p:sp>
        <p:nvSpPr>
          <p:cNvPr id="50" name="TextBox 49"/>
          <p:cNvSpPr txBox="1"/>
          <p:nvPr/>
        </p:nvSpPr>
        <p:spPr>
          <a:xfrm>
            <a:off x="3931920" y="5852160"/>
            <a:ext cx="1737360" cy="411480"/>
          </a:xfrm>
          <a:prstGeom prst="rect">
            <a:avLst/>
          </a:prstGeom>
          <a:noFill/>
        </p:spPr>
        <p:txBody>
          <a:bodyPr wrap="square">
            <a:spAutoFit/>
          </a:bodyPr>
          <a:lstStyle/>
          <a:p>
            <a:r>
              <a:rPr sz="1200" b="0"/>
              <a:t>$250,000</a:t>
            </a:r>
          </a:p>
        </p:txBody>
      </p:sp>
      <p:sp>
        <p:nvSpPr>
          <p:cNvPr id="51" name="TextBox 50"/>
          <p:cNvSpPr txBox="1"/>
          <p:nvPr/>
        </p:nvSpPr>
        <p:spPr>
          <a:xfrm>
            <a:off x="5852160" y="5852160"/>
            <a:ext cx="1737360" cy="411480"/>
          </a:xfrm>
          <a:prstGeom prst="rect">
            <a:avLst/>
          </a:prstGeom>
          <a:noFill/>
        </p:spPr>
        <p:txBody>
          <a:bodyPr wrap="square">
            <a:spAutoFit/>
          </a:bodyPr>
          <a:lstStyle/>
          <a:p>
            <a:r>
              <a:rPr sz="1200" b="0"/>
              <a:t>2024-05-25</a:t>
            </a:r>
          </a:p>
        </p:txBody>
      </p:sp>
      <p:sp>
        <p:nvSpPr>
          <p:cNvPr id="52" name="TextBox 51"/>
          <p:cNvSpPr txBox="1"/>
          <p:nvPr/>
        </p:nvSpPr>
        <p:spPr>
          <a:xfrm>
            <a:off x="7772400" y="5852160"/>
            <a:ext cx="1737360" cy="411480"/>
          </a:xfrm>
          <a:prstGeom prst="rect">
            <a:avLst/>
          </a:prstGeom>
          <a:noFill/>
        </p:spPr>
        <p:txBody>
          <a:bodyPr wrap="square">
            <a:spAutoFit/>
          </a:bodyPr>
          <a:lstStyle/>
          <a:p>
            <a:r>
              <a:rPr sz="1200" b="0"/>
              <a:t>100%</a:t>
            </a:r>
          </a:p>
        </p:txBody>
      </p:sp>
      <p:sp>
        <p:nvSpPr>
          <p:cNvPr id="53" name="TextBox 52"/>
          <p:cNvSpPr txBox="1"/>
          <p:nvPr/>
        </p:nvSpPr>
        <p:spPr>
          <a:xfrm>
            <a:off x="9692640" y="5852160"/>
            <a:ext cx="2286000" cy="411480"/>
          </a:xfrm>
          <a:prstGeom prst="rect">
            <a:avLst/>
          </a:prstGeom>
          <a:noFill/>
        </p:spPr>
        <p:txBody>
          <a:bodyPr wrap="square">
            <a:spAutoFit/>
          </a:bodyPr>
          <a:lstStyle/>
          <a:p>
            <a:r>
              <a:rPr sz="1200" b="1">
                <a:solidFill>
                  <a:srgbClr val="1DB954"/>
                </a:solidFill>
              </a:rPr>
              <a:t>GREEN</a:t>
            </a:r>
          </a:p>
        </p:txBody>
      </p:sp>
      <p:sp>
        <p:nvSpPr>
          <p:cNvPr id="54" name="TextBox 53"/>
          <p:cNvSpPr txBox="1"/>
          <p:nvPr/>
        </p:nvSpPr>
        <p:spPr>
          <a:xfrm>
            <a:off x="365760" y="6355080"/>
            <a:ext cx="3383280" cy="411480"/>
          </a:xfrm>
          <a:prstGeom prst="rect">
            <a:avLst/>
          </a:prstGeom>
          <a:noFill/>
        </p:spPr>
        <p:txBody>
          <a:bodyPr wrap="square">
            <a:spAutoFit/>
          </a:bodyPr>
          <a:lstStyle/>
          <a:p>
            <a:r>
              <a:rPr sz="1200" b="0"/>
              <a:t>Hooli</a:t>
            </a:r>
          </a:p>
        </p:txBody>
      </p:sp>
      <p:sp>
        <p:nvSpPr>
          <p:cNvPr id="55" name="TextBox 54"/>
          <p:cNvSpPr txBox="1"/>
          <p:nvPr/>
        </p:nvSpPr>
        <p:spPr>
          <a:xfrm>
            <a:off x="3931920" y="6355080"/>
            <a:ext cx="1737360" cy="411480"/>
          </a:xfrm>
          <a:prstGeom prst="rect">
            <a:avLst/>
          </a:prstGeom>
          <a:noFill/>
        </p:spPr>
        <p:txBody>
          <a:bodyPr wrap="square">
            <a:spAutoFit/>
          </a:bodyPr>
          <a:lstStyle/>
          <a:p>
            <a:r>
              <a:rPr sz="1200" b="0"/>
              <a:t>$120,000</a:t>
            </a:r>
          </a:p>
        </p:txBody>
      </p:sp>
      <p:sp>
        <p:nvSpPr>
          <p:cNvPr id="56" name="TextBox 55"/>
          <p:cNvSpPr txBox="1"/>
          <p:nvPr/>
        </p:nvSpPr>
        <p:spPr>
          <a:xfrm>
            <a:off x="5852160" y="6355080"/>
            <a:ext cx="1737360" cy="411480"/>
          </a:xfrm>
          <a:prstGeom prst="rect">
            <a:avLst/>
          </a:prstGeom>
          <a:noFill/>
        </p:spPr>
        <p:txBody>
          <a:bodyPr wrap="square">
            <a:spAutoFit/>
          </a:bodyPr>
          <a:lstStyle/>
          <a:p>
            <a:r>
              <a:rPr sz="1200" b="0"/>
              <a:t>2024-05-22</a:t>
            </a:r>
          </a:p>
        </p:txBody>
      </p:sp>
      <p:sp>
        <p:nvSpPr>
          <p:cNvPr id="57" name="TextBox 56"/>
          <p:cNvSpPr txBox="1"/>
          <p:nvPr/>
        </p:nvSpPr>
        <p:spPr>
          <a:xfrm>
            <a:off x="7772400" y="6355080"/>
            <a:ext cx="1737360" cy="411480"/>
          </a:xfrm>
          <a:prstGeom prst="rect">
            <a:avLst/>
          </a:prstGeom>
          <a:noFill/>
        </p:spPr>
        <p:txBody>
          <a:bodyPr wrap="square">
            <a:spAutoFit/>
          </a:bodyPr>
          <a:lstStyle/>
          <a:p>
            <a:r>
              <a:rPr sz="1200" b="0"/>
              <a:t>100%</a:t>
            </a:r>
          </a:p>
        </p:txBody>
      </p:sp>
      <p:sp>
        <p:nvSpPr>
          <p:cNvPr id="58" name="TextBox 57"/>
          <p:cNvSpPr txBox="1"/>
          <p:nvPr/>
        </p:nvSpPr>
        <p:spPr>
          <a:xfrm>
            <a:off x="9692640" y="6355080"/>
            <a:ext cx="2286000" cy="411480"/>
          </a:xfrm>
          <a:prstGeom prst="rect">
            <a:avLst/>
          </a:prstGeom>
          <a:noFill/>
        </p:spPr>
        <p:txBody>
          <a:bodyPr wrap="square">
            <a:spAutoFit/>
          </a:bodyPr>
          <a:lstStyle/>
          <a:p>
            <a:r>
              <a:rPr sz="1200" b="1">
                <a:solidFill>
                  <a:srgbClr val="1DB954"/>
                </a:solidFill>
              </a:rPr>
              <a:t>GREEN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Initech</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E53935"/>
                </a:solidFill>
              </a:rPr>
              <a:t>RED</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$450,000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2024-05-30</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E53935"/>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RED | Initech
* **Pipeline Impact:** $450,000 | **Target Close:** 2024-05-30 | **Health:** 0/100
* **The Bottom Line:** Initech's champion, John Smith, has expressed concerns about ROI, and the customer has stalled on the proof-of-concept. We need to address these concerns and re-engage the customer to move the deal forward.
* **Manager Action Today:** Schedule a call with John Smith to discuss Initech's ROI concerns and provide a revised proof-of-concept plan to re-energize the deal.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Acme Corp</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E53935"/>
                </a:solidFill>
              </a:rPr>
              <a:t>RED</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$340,000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2024-06-15</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E53935"/>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RED | Acme Corp
* **Pipeline Impact:** $340,000 | **Target Close:** 2024-06-15 | **Health:** 0/100
* **The Bottom Line:** Acme Corp's deal momentum has stalled due to ongoing budget approval delays, and key decision-maker, John Smith, has expressed concerns about ROI. Champion, Emily Johnson, is still engaged but needs to escalate the issue to secure approval.
* **Manager Action Today:** Escalate the issue to Emily Johnson and request her to schedule a meeting with John Smith to address budget concerns and provide a revised ROI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Globex Inc</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E53935"/>
                </a:solidFill>
              </a:rPr>
              <a:t>RED</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$180,000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2024-06-20</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30%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E53935"/>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RED | Globex Inc
* **Pipeline Impact:** $180,000 | **Target Close:** 2024-06-20 | **Health:** 30/100
* **The Bottom Line:** The deal's health is at risk due to a 3-week delay in the champion's decision-making process, which has stalled the sales momentum. The sales team must address the champion's concerns about ROI before the target close date.
* **Manager Action Today:** Schedule a call with the champion to discuss ROI and address their concerns by the end of the 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Umbrella Corp</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E53935"/>
                </a:solidFill>
              </a:rPr>
              <a:t>RED</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$650,000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2024-07-10</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35%</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E53935"/>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RED | Umbrella Corp
* **Pipeline Impact:** $650,000 | **Target Close:** 2024-07-10 | **Health:** 35/100
* **The Bottom Line:** The deal is at risk due to a 30-day delay in decision-making from the champion, Alex Chen, and unresolved concerns about integration costs. We need to re-engage Alex and address these concerns to get the deal back on track.
* **Manager Action Today:** Re-schedule a call with Alex Chen to discuss the integration costs and re-iterate the value proposition.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Stark Ind</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F5A623"/>
                </a:solidFill>
              </a:rPr>
              <a:t>AMBER</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$850,000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2024-06-05</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55%</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F5A623"/>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AMBER | Stark Ind
* **Pipeline Impact:** $850,000 | **Target Close:** 2024-06-05 | **Health:** 55/100
* **The Bottom Line:** Stark Ind's champion, Alex, has expressed concerns about ROI, and the sales team has yet to provide a customized case study. The deal's health is impacted by a 30-day delay in the decision-making process.
* **Manager Action Today:** Schedule a meeting with Alex to address ROI concerns and provide a tailored case study to accelerate the decision-making process.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Wayne Ent</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F5A623"/>
                </a:solidFill>
              </a:rPr>
              <a:t>AMBER</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$500,000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2024-06-25</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70%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F5A623"/>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AMBER | Wayne Ent
* **Pipeline Impact:** $500,000 | **Target Close:** 2024-06-25 | **Health:** 70/100
* **The Bottom Line:** Wayne Ent's pipeline is at risk due to a 30-day delay in champion approval, which may impact the June close. The sales team must address the champion's concerns about ROI to regain momentum.
* **Manager Action Today:** Schedule a call with the champion to discuss ROI concerns and provide additional value props to accelerate the approval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Cyberdyne</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1DB954"/>
                </a:solidFill>
              </a:rPr>
              <a:t>GREEN</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$900,000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2024-06-10</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100%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1DB954"/>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GREEN | Cyberdyne
* **Pipeline Impact:** $900,000 | **Target Close:** 2024-06-10 | **Health:** 100/100
* **The Bottom Line:** The champion, Rachel Lee, has consistently met milestones, and the customer's recent budget allocation indicates strong support. However, we need to address the lingering objection around integration costs.
* **Manager Action Today:** Schedule a call with Rachel to discuss the integration plan and provide a detailed cost breakdown to alleviate customer concerns.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Massive Dynamic</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1DB954"/>
                </a:solidFill>
              </a:rPr>
              <a:t>GREEN</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$720,000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2024-05-28</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100%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1DB954"/>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GREEN | Massive Dynamic
* **Pipeline Impact:** $720,000 | **Target Close:** 2024-05-28 | **Health:** 100/100
* **The Bottom Line:** The champion, Alex Chen, has consistently demonstrated strong interest and engagement, with a recent meeting scheduled for next week. However, we need to address the lingering objection around pricing, which has been a sticking point since the initial proposal.
* **Manager Action Today:** Schedule a call with Alex to discuss pricing and address any concerns, and have the sales team prepare a revised proposal to present during the meeting.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Oscorp</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1DB954"/>
                </a:solidFill>
              </a:rPr>
              <a:t>GREEN</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$250,000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2024-05-25</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100%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1DB954"/>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GREEN | Oscorp
* **Pipeline Impact:** $250,000 | **Target Close:** 2024-05-25 | **Health:** 100/100
* **The Bottom Line:** Oscorp's champion, Emily, has consistently shown strong interest in our solution, and recent meetings have addressed all major objections, positioning us for a smooth close. However, we must remain vigilant to ensure Emily's stakeholders are aligned behind the purchase.
* **Manager Action Today:** Schedule a final meeting with Emily to review the proposal and confirm stakeholder buy-in.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144000" cy="685800"/>
          </a:xfrm>
          <a:prstGeom prst="rect">
            <a:avLst/>
          </a:prstGeom>
          <a:noFill/>
        </p:spPr>
        <p:txBody>
          <a:bodyPr wrap="square">
            <a:spAutoFit/>
          </a:bodyPr>
          <a:lstStyle/>
          <a:p>
            <a:r>
              <a:rPr sz="3200" b="1"/>
              <a:t>Hooli</a:t>
            </a:r>
          </a:p>
        </p:txBody>
      </p:sp>
      <p:sp>
        <p:nvSpPr>
          <p:cNvPr id="3" name="TextBox 2"/>
          <p:cNvSpPr txBox="1"/>
          <p:nvPr/>
        </p:nvSpPr>
        <p:spPr>
          <a:xfrm>
            <a:off x="10058400" y="228600"/>
            <a:ext cx="1828800" cy="502920"/>
          </a:xfrm>
          <a:prstGeom prst="rect">
            <a:avLst/>
          </a:prstGeom>
          <a:noFill/>
        </p:spPr>
        <p:txBody>
          <a:bodyPr wrap="square">
            <a:spAutoFit/>
          </a:bodyPr>
          <a:lstStyle/>
          <a:p>
            <a:r>
              <a:rPr sz="1600" b="1">
                <a:solidFill>
                  <a:srgbClr val="1DB954"/>
                </a:solidFill>
              </a:rPr>
              <a:t>GREEN</a:t>
            </a:r>
          </a:p>
        </p:txBody>
      </p:sp>
      <p:sp>
        <p:nvSpPr>
          <p:cNvPr id="4" name="TextBox 3"/>
          <p:cNvSpPr txBox="1"/>
          <p:nvPr/>
        </p:nvSpPr>
        <p:spPr>
          <a:xfrm>
            <a:off x="365760" y="1097280"/>
            <a:ext cx="3474720" cy="274320"/>
          </a:xfrm>
          <a:prstGeom prst="rect">
            <a:avLst/>
          </a:prstGeom>
          <a:noFill/>
        </p:spPr>
        <p:txBody>
          <a:bodyPr wrap="square">
            <a:spAutoFit/>
          </a:bodyPr>
          <a:lstStyle/>
          <a:p>
            <a:r>
              <a:rPr sz="1000" b="0">
                <a:solidFill>
                  <a:srgbClr val="888899"/>
                </a:solidFill>
              </a:rPr>
              <a:t>VALUE</a:t>
            </a:r>
          </a:p>
        </p:txBody>
      </p:sp>
      <p:sp>
        <p:nvSpPr>
          <p:cNvPr id="5" name="TextBox 4"/>
          <p:cNvSpPr txBox="1"/>
          <p:nvPr/>
        </p:nvSpPr>
        <p:spPr>
          <a:xfrm>
            <a:off x="365760" y="1371600"/>
            <a:ext cx="3474720" cy="457200"/>
          </a:xfrm>
          <a:prstGeom prst="rect">
            <a:avLst/>
          </a:prstGeom>
          <a:noFill/>
        </p:spPr>
        <p:txBody>
          <a:bodyPr wrap="square">
            <a:spAutoFit/>
          </a:bodyPr>
          <a:lstStyle/>
          <a:p>
            <a:r>
              <a:rPr sz="2200" b="1"/>
              <a:t>$120,000</a:t>
            </a:r>
          </a:p>
        </p:txBody>
      </p:sp>
      <p:sp>
        <p:nvSpPr>
          <p:cNvPr id="6" name="TextBox 5"/>
          <p:cNvSpPr txBox="1"/>
          <p:nvPr/>
        </p:nvSpPr>
        <p:spPr>
          <a:xfrm>
            <a:off x="4206240" y="1097280"/>
            <a:ext cx="3474720" cy="274320"/>
          </a:xfrm>
          <a:prstGeom prst="rect">
            <a:avLst/>
          </a:prstGeom>
          <a:noFill/>
        </p:spPr>
        <p:txBody>
          <a:bodyPr wrap="square">
            <a:spAutoFit/>
          </a:bodyPr>
          <a:lstStyle/>
          <a:p>
            <a:r>
              <a:rPr sz="1000" b="0">
                <a:solidFill>
                  <a:srgbClr val="888899"/>
                </a:solidFill>
              </a:rPr>
              <a:t>CLOSE DATE</a:t>
            </a:r>
          </a:p>
        </p:txBody>
      </p:sp>
      <p:sp>
        <p:nvSpPr>
          <p:cNvPr id="7" name="TextBox 6"/>
          <p:cNvSpPr txBox="1"/>
          <p:nvPr/>
        </p:nvSpPr>
        <p:spPr>
          <a:xfrm>
            <a:off x="4206240" y="1371600"/>
            <a:ext cx="3474720" cy="457200"/>
          </a:xfrm>
          <a:prstGeom prst="rect">
            <a:avLst/>
          </a:prstGeom>
          <a:noFill/>
        </p:spPr>
        <p:txBody>
          <a:bodyPr wrap="square">
            <a:spAutoFit/>
          </a:bodyPr>
          <a:lstStyle/>
          <a:p>
            <a:r>
              <a:rPr sz="2200" b="1"/>
              <a:t>2024-05-22</a:t>
            </a:r>
          </a:p>
        </p:txBody>
      </p:sp>
      <p:sp>
        <p:nvSpPr>
          <p:cNvPr id="8" name="TextBox 7"/>
          <p:cNvSpPr txBox="1"/>
          <p:nvPr/>
        </p:nvSpPr>
        <p:spPr>
          <a:xfrm>
            <a:off x="8046720" y="1097280"/>
            <a:ext cx="3474720" cy="274320"/>
          </a:xfrm>
          <a:prstGeom prst="rect">
            <a:avLst/>
          </a:prstGeom>
          <a:noFill/>
        </p:spPr>
        <p:txBody>
          <a:bodyPr wrap="square">
            <a:spAutoFit/>
          </a:bodyPr>
          <a:lstStyle/>
          <a:p>
            <a:r>
              <a:rPr sz="1000" b="0">
                <a:solidFill>
                  <a:srgbClr val="888899"/>
                </a:solidFill>
              </a:rPr>
              <a:t>SCORE</a:t>
            </a:r>
          </a:p>
        </p:txBody>
      </p:sp>
      <p:sp>
        <p:nvSpPr>
          <p:cNvPr id="9" name="TextBox 8"/>
          <p:cNvSpPr txBox="1"/>
          <p:nvPr/>
        </p:nvSpPr>
        <p:spPr>
          <a:xfrm>
            <a:off x="8046720" y="1371600"/>
            <a:ext cx="3474720" cy="457200"/>
          </a:xfrm>
          <a:prstGeom prst="rect">
            <a:avLst/>
          </a:prstGeom>
          <a:noFill/>
        </p:spPr>
        <p:txBody>
          <a:bodyPr wrap="square">
            <a:spAutoFit/>
          </a:bodyPr>
          <a:lstStyle/>
          <a:p>
            <a:r>
              <a:rPr sz="2200" b="1"/>
              <a:t>100%</a:t>
            </a:r>
          </a:p>
        </p:txBody>
      </p:sp>
      <p:sp>
        <p:nvSpPr>
          <p:cNvPr id="10" name="TextBox 9"/>
          <p:cNvSpPr txBox="1"/>
          <p:nvPr/>
        </p:nvSpPr>
        <p:spPr>
          <a:xfrm>
            <a:off x="365760" y="2103120"/>
            <a:ext cx="11430000" cy="320040"/>
          </a:xfrm>
          <a:prstGeom prst="rect">
            <a:avLst/>
          </a:prstGeom>
          <a:noFill/>
        </p:spPr>
        <p:txBody>
          <a:bodyPr wrap="square">
            <a:spAutoFit/>
          </a:bodyPr>
          <a:lstStyle/>
          <a:p>
            <a:r>
              <a:rPr sz="1100" b="1">
                <a:solidFill>
                  <a:srgbClr val="1DB954"/>
                </a:solidFill>
              </a:rPr>
              <a:t>DEAL SUMMARY</a:t>
            </a:r>
          </a:p>
        </p:txBody>
      </p:sp>
      <p:sp>
        <p:nvSpPr>
          <p:cNvPr id="11" name="TextBox 10"/>
          <p:cNvSpPr txBox="1"/>
          <p:nvPr/>
        </p:nvSpPr>
        <p:spPr>
          <a:xfrm>
            <a:off x="365760" y="2514600"/>
            <a:ext cx="11430000" cy="2286000"/>
          </a:xfrm>
          <a:prstGeom prst="rect">
            <a:avLst/>
          </a:prstGeom>
          <a:noFill/>
        </p:spPr>
        <p:txBody>
          <a:bodyPr wrap="square">
            <a:spAutoFit/>
          </a:bodyPr>
          <a:lstStyle/>
          <a:p>
            <a:r>
              <a:rPr sz="1300" b="0"/>
              <a:t>### 🟢 GREEN | Hooli
* **Pipeline Impact:** $120,000 | **Target Close:** 2024-05-22 | **Health:** 100/100
* **The Bottom Line:** Hooli's champion, Karen, has expressed strong interest in our solution, and the deal is on track to meet its target close date. However, we need to address the pending objection from the finance team regarding pricing.
* **Manager Action Today:** Schedule a call with Karen to address the finance team's concerns and provide a revised pricing proposal.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