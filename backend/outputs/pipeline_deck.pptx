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0972800" cy="731520"/>
          </a:xfrm>
          <a:prstGeom prst="rect">
            <a:avLst/>
          </a:prstGeom>
          <a:noFill/>
        </p:spPr>
        <p:txBody>
          <a:bodyPr wrap="square">
            <a:spAutoFit/>
          </a:bodyPr>
          <a:lstStyle/>
          <a:p>
            <a:r>
              <a:rPr sz="3600" b="1"/>
              <a:t>Pipeline Scorecard</a:t>
            </a:r>
          </a:p>
        </p:txBody>
      </p:sp>
      <p:sp>
        <p:nvSpPr>
          <p:cNvPr id="3" name="TextBox 2"/>
          <p:cNvSpPr txBox="1"/>
          <p:nvPr/>
        </p:nvSpPr>
        <p:spPr>
          <a:xfrm>
            <a:off x="365760" y="868680"/>
            <a:ext cx="10972800" cy="320040"/>
          </a:xfrm>
          <a:prstGeom prst="rect">
            <a:avLst/>
          </a:prstGeom>
          <a:noFill/>
        </p:spPr>
        <p:txBody>
          <a:bodyPr wrap="square">
            <a:spAutoFit/>
          </a:bodyPr>
          <a:lstStyle/>
          <a:p>
            <a:r>
              <a:rPr sz="1200" b="0">
                <a:solidFill>
                  <a:srgbClr val="888899"/>
                </a:solidFill>
              </a:rPr>
              <a:t>2026-05-31</a:t>
            </a:r>
          </a:p>
        </p:txBody>
      </p:sp>
      <p:sp>
        <p:nvSpPr>
          <p:cNvPr id="4" name="TextBox 3"/>
          <p:cNvSpPr txBox="1"/>
          <p:nvPr/>
        </p:nvSpPr>
        <p:spPr>
          <a:xfrm>
            <a:off x="365760" y="1371600"/>
            <a:ext cx="3383280" cy="365760"/>
          </a:xfrm>
          <a:prstGeom prst="rect">
            <a:avLst/>
          </a:prstGeom>
          <a:noFill/>
        </p:spPr>
        <p:txBody>
          <a:bodyPr wrap="square">
            <a:spAutoFit/>
          </a:bodyPr>
          <a:lstStyle/>
          <a:p>
            <a:r>
              <a:rPr sz="1200" b="1"/>
              <a:t>Deal</a:t>
            </a:r>
          </a:p>
        </p:txBody>
      </p:sp>
      <p:sp>
        <p:nvSpPr>
          <p:cNvPr id="5" name="TextBox 4"/>
          <p:cNvSpPr txBox="1"/>
          <p:nvPr/>
        </p:nvSpPr>
        <p:spPr>
          <a:xfrm>
            <a:off x="3931920" y="1371600"/>
            <a:ext cx="1737360" cy="365760"/>
          </a:xfrm>
          <a:prstGeom prst="rect">
            <a:avLst/>
          </a:prstGeom>
          <a:noFill/>
        </p:spPr>
        <p:txBody>
          <a:bodyPr wrap="square">
            <a:spAutoFit/>
          </a:bodyPr>
          <a:lstStyle/>
          <a:p>
            <a:r>
              <a:rPr sz="1200" b="1"/>
              <a:t>Value</a:t>
            </a:r>
          </a:p>
        </p:txBody>
      </p:sp>
      <p:sp>
        <p:nvSpPr>
          <p:cNvPr id="6" name="TextBox 5"/>
          <p:cNvSpPr txBox="1"/>
          <p:nvPr/>
        </p:nvSpPr>
        <p:spPr>
          <a:xfrm>
            <a:off x="5852160" y="1371600"/>
            <a:ext cx="1737360" cy="365760"/>
          </a:xfrm>
          <a:prstGeom prst="rect">
            <a:avLst/>
          </a:prstGeom>
          <a:noFill/>
        </p:spPr>
        <p:txBody>
          <a:bodyPr wrap="square">
            <a:spAutoFit/>
          </a:bodyPr>
          <a:lstStyle/>
          <a:p>
            <a:r>
              <a:rPr sz="1200" b="1"/>
              <a:t>Close</a:t>
            </a:r>
          </a:p>
        </p:txBody>
      </p:sp>
      <p:sp>
        <p:nvSpPr>
          <p:cNvPr id="7" name="TextBox 6"/>
          <p:cNvSpPr txBox="1"/>
          <p:nvPr/>
        </p:nvSpPr>
        <p:spPr>
          <a:xfrm>
            <a:off x="7772400" y="1371600"/>
            <a:ext cx="1737360" cy="365760"/>
          </a:xfrm>
          <a:prstGeom prst="rect">
            <a:avLst/>
          </a:prstGeom>
          <a:noFill/>
        </p:spPr>
        <p:txBody>
          <a:bodyPr wrap="square">
            <a:spAutoFit/>
          </a:bodyPr>
          <a:lstStyle/>
          <a:p>
            <a:r>
              <a:rPr sz="1200" b="1"/>
              <a:t>Score</a:t>
            </a:r>
          </a:p>
        </p:txBody>
      </p:sp>
      <p:sp>
        <p:nvSpPr>
          <p:cNvPr id="8" name="TextBox 7"/>
          <p:cNvSpPr txBox="1"/>
          <p:nvPr/>
        </p:nvSpPr>
        <p:spPr>
          <a:xfrm>
            <a:off x="9692640" y="1371600"/>
            <a:ext cx="2286000" cy="365760"/>
          </a:xfrm>
          <a:prstGeom prst="rect">
            <a:avLst/>
          </a:prstGeom>
          <a:noFill/>
        </p:spPr>
        <p:txBody>
          <a:bodyPr wrap="square">
            <a:spAutoFit/>
          </a:bodyPr>
          <a:lstStyle/>
          <a:p>
            <a:r>
              <a:rPr sz="1200" b="1"/>
              <a:t>Status</a:t>
            </a:r>
          </a:p>
        </p:txBody>
      </p:sp>
      <p:sp>
        <p:nvSpPr>
          <p:cNvPr id="9" name="TextBox 8"/>
          <p:cNvSpPr txBox="1"/>
          <p:nvPr/>
        </p:nvSpPr>
        <p:spPr>
          <a:xfrm>
            <a:off x="365760" y="1828800"/>
            <a:ext cx="3383280" cy="411480"/>
          </a:xfrm>
          <a:prstGeom prst="rect">
            <a:avLst/>
          </a:prstGeom>
          <a:noFill/>
        </p:spPr>
        <p:txBody>
          <a:bodyPr wrap="square">
            <a:spAutoFit/>
          </a:bodyPr>
          <a:lstStyle/>
          <a:p>
            <a:r>
              <a:rPr sz="1200" b="0"/>
              <a:t>Initech</a:t>
            </a:r>
          </a:p>
        </p:txBody>
      </p:sp>
      <p:sp>
        <p:nvSpPr>
          <p:cNvPr id="10" name="TextBox 9"/>
          <p:cNvSpPr txBox="1"/>
          <p:nvPr/>
        </p:nvSpPr>
        <p:spPr>
          <a:xfrm>
            <a:off x="3931920" y="1828800"/>
            <a:ext cx="1737360" cy="411480"/>
          </a:xfrm>
          <a:prstGeom prst="rect">
            <a:avLst/>
          </a:prstGeom>
          <a:noFill/>
        </p:spPr>
        <p:txBody>
          <a:bodyPr wrap="square">
            <a:spAutoFit/>
          </a:bodyPr>
          <a:lstStyle/>
          <a:p>
            <a:r>
              <a:rPr sz="1200" b="0"/>
              <a:t>$450,000</a:t>
            </a:r>
          </a:p>
        </p:txBody>
      </p:sp>
      <p:sp>
        <p:nvSpPr>
          <p:cNvPr id="11" name="TextBox 10"/>
          <p:cNvSpPr txBox="1"/>
          <p:nvPr/>
        </p:nvSpPr>
        <p:spPr>
          <a:xfrm>
            <a:off x="5852160" y="1828800"/>
            <a:ext cx="1737360" cy="411480"/>
          </a:xfrm>
          <a:prstGeom prst="rect">
            <a:avLst/>
          </a:prstGeom>
          <a:noFill/>
        </p:spPr>
        <p:txBody>
          <a:bodyPr wrap="square">
            <a:spAutoFit/>
          </a:bodyPr>
          <a:lstStyle/>
          <a:p>
            <a:r>
              <a:rPr sz="1200" b="0"/>
              <a:t>2024-05-30</a:t>
            </a:r>
          </a:p>
        </p:txBody>
      </p:sp>
      <p:sp>
        <p:nvSpPr>
          <p:cNvPr id="12" name="TextBox 11"/>
          <p:cNvSpPr txBox="1"/>
          <p:nvPr/>
        </p:nvSpPr>
        <p:spPr>
          <a:xfrm>
            <a:off x="7772400" y="1828800"/>
            <a:ext cx="1737360" cy="411480"/>
          </a:xfrm>
          <a:prstGeom prst="rect">
            <a:avLst/>
          </a:prstGeom>
          <a:noFill/>
        </p:spPr>
        <p:txBody>
          <a:bodyPr wrap="square">
            <a:spAutoFit/>
          </a:bodyPr>
          <a:lstStyle/>
          <a:p>
            <a:r>
              <a:rPr sz="1200" b="0"/>
              <a:t>0%</a:t>
            </a:r>
          </a:p>
        </p:txBody>
      </p:sp>
      <p:sp>
        <p:nvSpPr>
          <p:cNvPr id="13" name="TextBox 12"/>
          <p:cNvSpPr txBox="1"/>
          <p:nvPr/>
        </p:nvSpPr>
        <p:spPr>
          <a:xfrm>
            <a:off x="9692640" y="1828800"/>
            <a:ext cx="2286000" cy="411480"/>
          </a:xfrm>
          <a:prstGeom prst="rect">
            <a:avLst/>
          </a:prstGeom>
          <a:noFill/>
        </p:spPr>
        <p:txBody>
          <a:bodyPr wrap="square">
            <a:spAutoFit/>
          </a:bodyPr>
          <a:lstStyle/>
          <a:p>
            <a:r>
              <a:rPr sz="1200" b="1">
                <a:solidFill>
                  <a:srgbClr val="E53935"/>
                </a:solidFill>
              </a:rPr>
              <a:t>RED</a:t>
            </a:r>
          </a:p>
        </p:txBody>
      </p:sp>
      <p:sp>
        <p:nvSpPr>
          <p:cNvPr id="14" name="TextBox 13"/>
          <p:cNvSpPr txBox="1"/>
          <p:nvPr/>
        </p:nvSpPr>
        <p:spPr>
          <a:xfrm>
            <a:off x="365760" y="2331720"/>
            <a:ext cx="3383280" cy="411480"/>
          </a:xfrm>
          <a:prstGeom prst="rect">
            <a:avLst/>
          </a:prstGeom>
          <a:noFill/>
        </p:spPr>
        <p:txBody>
          <a:bodyPr wrap="square">
            <a:spAutoFit/>
          </a:bodyPr>
          <a:lstStyle/>
          <a:p>
            <a:r>
              <a:rPr sz="1200" b="0"/>
              <a:t>Acme Corp</a:t>
            </a:r>
          </a:p>
        </p:txBody>
      </p:sp>
      <p:sp>
        <p:nvSpPr>
          <p:cNvPr id="15" name="TextBox 14"/>
          <p:cNvSpPr txBox="1"/>
          <p:nvPr/>
        </p:nvSpPr>
        <p:spPr>
          <a:xfrm>
            <a:off x="3931920" y="2331720"/>
            <a:ext cx="1737360" cy="411480"/>
          </a:xfrm>
          <a:prstGeom prst="rect">
            <a:avLst/>
          </a:prstGeom>
          <a:noFill/>
        </p:spPr>
        <p:txBody>
          <a:bodyPr wrap="square">
            <a:spAutoFit/>
          </a:bodyPr>
          <a:lstStyle/>
          <a:p>
            <a:r>
              <a:rPr sz="1200" b="0"/>
              <a:t>$340,000</a:t>
            </a:r>
          </a:p>
        </p:txBody>
      </p:sp>
      <p:sp>
        <p:nvSpPr>
          <p:cNvPr id="16" name="TextBox 15"/>
          <p:cNvSpPr txBox="1"/>
          <p:nvPr/>
        </p:nvSpPr>
        <p:spPr>
          <a:xfrm>
            <a:off x="5852160" y="2331720"/>
            <a:ext cx="1737360" cy="411480"/>
          </a:xfrm>
          <a:prstGeom prst="rect">
            <a:avLst/>
          </a:prstGeom>
          <a:noFill/>
        </p:spPr>
        <p:txBody>
          <a:bodyPr wrap="square">
            <a:spAutoFit/>
          </a:bodyPr>
          <a:lstStyle/>
          <a:p>
            <a:r>
              <a:rPr sz="1200" b="0"/>
              <a:t>2024-06-15</a:t>
            </a:r>
          </a:p>
        </p:txBody>
      </p:sp>
      <p:sp>
        <p:nvSpPr>
          <p:cNvPr id="17" name="TextBox 16"/>
          <p:cNvSpPr txBox="1"/>
          <p:nvPr/>
        </p:nvSpPr>
        <p:spPr>
          <a:xfrm>
            <a:off x="7772400" y="2331720"/>
            <a:ext cx="1737360" cy="411480"/>
          </a:xfrm>
          <a:prstGeom prst="rect">
            <a:avLst/>
          </a:prstGeom>
          <a:noFill/>
        </p:spPr>
        <p:txBody>
          <a:bodyPr wrap="square">
            <a:spAutoFit/>
          </a:bodyPr>
          <a:lstStyle/>
          <a:p>
            <a:r>
              <a:rPr sz="1200" b="0"/>
              <a:t>0%</a:t>
            </a:r>
          </a:p>
        </p:txBody>
      </p:sp>
      <p:sp>
        <p:nvSpPr>
          <p:cNvPr id="18" name="TextBox 17"/>
          <p:cNvSpPr txBox="1"/>
          <p:nvPr/>
        </p:nvSpPr>
        <p:spPr>
          <a:xfrm>
            <a:off x="9692640" y="2331720"/>
            <a:ext cx="2286000" cy="411480"/>
          </a:xfrm>
          <a:prstGeom prst="rect">
            <a:avLst/>
          </a:prstGeom>
          <a:noFill/>
        </p:spPr>
        <p:txBody>
          <a:bodyPr wrap="square">
            <a:spAutoFit/>
          </a:bodyPr>
          <a:lstStyle/>
          <a:p>
            <a:r>
              <a:rPr sz="1200" b="1">
                <a:solidFill>
                  <a:srgbClr val="E53935"/>
                </a:solidFill>
              </a:rPr>
              <a:t>RED</a:t>
            </a:r>
          </a:p>
        </p:txBody>
      </p:sp>
      <p:sp>
        <p:nvSpPr>
          <p:cNvPr id="19" name="TextBox 18"/>
          <p:cNvSpPr txBox="1"/>
          <p:nvPr/>
        </p:nvSpPr>
        <p:spPr>
          <a:xfrm>
            <a:off x="365760" y="2834640"/>
            <a:ext cx="3383280" cy="411480"/>
          </a:xfrm>
          <a:prstGeom prst="rect">
            <a:avLst/>
          </a:prstGeom>
          <a:noFill/>
        </p:spPr>
        <p:txBody>
          <a:bodyPr wrap="square">
            <a:spAutoFit/>
          </a:bodyPr>
          <a:lstStyle/>
          <a:p>
            <a:r>
              <a:rPr sz="1200" b="0"/>
              <a:t>Globex Inc</a:t>
            </a:r>
          </a:p>
        </p:txBody>
      </p:sp>
      <p:sp>
        <p:nvSpPr>
          <p:cNvPr id="20" name="TextBox 19"/>
          <p:cNvSpPr txBox="1"/>
          <p:nvPr/>
        </p:nvSpPr>
        <p:spPr>
          <a:xfrm>
            <a:off x="3931920" y="2834640"/>
            <a:ext cx="1737360" cy="411480"/>
          </a:xfrm>
          <a:prstGeom prst="rect">
            <a:avLst/>
          </a:prstGeom>
          <a:noFill/>
        </p:spPr>
        <p:txBody>
          <a:bodyPr wrap="square">
            <a:spAutoFit/>
          </a:bodyPr>
          <a:lstStyle/>
          <a:p>
            <a:r>
              <a:rPr sz="1200" b="0"/>
              <a:t>$180,000</a:t>
            </a:r>
          </a:p>
        </p:txBody>
      </p:sp>
      <p:sp>
        <p:nvSpPr>
          <p:cNvPr id="21" name="TextBox 20"/>
          <p:cNvSpPr txBox="1"/>
          <p:nvPr/>
        </p:nvSpPr>
        <p:spPr>
          <a:xfrm>
            <a:off x="5852160" y="2834640"/>
            <a:ext cx="1737360" cy="411480"/>
          </a:xfrm>
          <a:prstGeom prst="rect">
            <a:avLst/>
          </a:prstGeom>
          <a:noFill/>
        </p:spPr>
        <p:txBody>
          <a:bodyPr wrap="square">
            <a:spAutoFit/>
          </a:bodyPr>
          <a:lstStyle/>
          <a:p>
            <a:r>
              <a:rPr sz="1200" b="0"/>
              <a:t>2024-06-20</a:t>
            </a:r>
          </a:p>
        </p:txBody>
      </p:sp>
      <p:sp>
        <p:nvSpPr>
          <p:cNvPr id="22" name="TextBox 21"/>
          <p:cNvSpPr txBox="1"/>
          <p:nvPr/>
        </p:nvSpPr>
        <p:spPr>
          <a:xfrm>
            <a:off x="7772400" y="2834640"/>
            <a:ext cx="1737360" cy="411480"/>
          </a:xfrm>
          <a:prstGeom prst="rect">
            <a:avLst/>
          </a:prstGeom>
          <a:noFill/>
        </p:spPr>
        <p:txBody>
          <a:bodyPr wrap="square">
            <a:spAutoFit/>
          </a:bodyPr>
          <a:lstStyle/>
          <a:p>
            <a:r>
              <a:rPr sz="1200" b="0"/>
              <a:t>5%</a:t>
            </a:r>
          </a:p>
        </p:txBody>
      </p:sp>
      <p:sp>
        <p:nvSpPr>
          <p:cNvPr id="23" name="TextBox 22"/>
          <p:cNvSpPr txBox="1"/>
          <p:nvPr/>
        </p:nvSpPr>
        <p:spPr>
          <a:xfrm>
            <a:off x="9692640" y="2834640"/>
            <a:ext cx="2286000" cy="411480"/>
          </a:xfrm>
          <a:prstGeom prst="rect">
            <a:avLst/>
          </a:prstGeom>
          <a:noFill/>
        </p:spPr>
        <p:txBody>
          <a:bodyPr wrap="square">
            <a:spAutoFit/>
          </a:bodyPr>
          <a:lstStyle/>
          <a:p>
            <a:r>
              <a:rPr sz="1200" b="1">
                <a:solidFill>
                  <a:srgbClr val="E53935"/>
                </a:solidFill>
              </a:rPr>
              <a:t>RED</a:t>
            </a:r>
          </a:p>
        </p:txBody>
      </p:sp>
      <p:sp>
        <p:nvSpPr>
          <p:cNvPr id="24" name="TextBox 23"/>
          <p:cNvSpPr txBox="1"/>
          <p:nvPr/>
        </p:nvSpPr>
        <p:spPr>
          <a:xfrm>
            <a:off x="365760" y="3337560"/>
            <a:ext cx="3383280" cy="411480"/>
          </a:xfrm>
          <a:prstGeom prst="rect">
            <a:avLst/>
          </a:prstGeom>
          <a:noFill/>
        </p:spPr>
        <p:txBody>
          <a:bodyPr wrap="square">
            <a:spAutoFit/>
          </a:bodyPr>
          <a:lstStyle/>
          <a:p>
            <a:r>
              <a:rPr sz="1200" b="0"/>
              <a:t>Umbrella Corp</a:t>
            </a:r>
          </a:p>
        </p:txBody>
      </p:sp>
      <p:sp>
        <p:nvSpPr>
          <p:cNvPr id="25" name="TextBox 24"/>
          <p:cNvSpPr txBox="1"/>
          <p:nvPr/>
        </p:nvSpPr>
        <p:spPr>
          <a:xfrm>
            <a:off x="3931920" y="3337560"/>
            <a:ext cx="1737360" cy="411480"/>
          </a:xfrm>
          <a:prstGeom prst="rect">
            <a:avLst/>
          </a:prstGeom>
          <a:noFill/>
        </p:spPr>
        <p:txBody>
          <a:bodyPr wrap="square">
            <a:spAutoFit/>
          </a:bodyPr>
          <a:lstStyle/>
          <a:p>
            <a:r>
              <a:rPr sz="1200" b="0"/>
              <a:t>$650,000</a:t>
            </a:r>
          </a:p>
        </p:txBody>
      </p:sp>
      <p:sp>
        <p:nvSpPr>
          <p:cNvPr id="26" name="TextBox 25"/>
          <p:cNvSpPr txBox="1"/>
          <p:nvPr/>
        </p:nvSpPr>
        <p:spPr>
          <a:xfrm>
            <a:off x="5852160" y="3337560"/>
            <a:ext cx="1737360" cy="411480"/>
          </a:xfrm>
          <a:prstGeom prst="rect">
            <a:avLst/>
          </a:prstGeom>
          <a:noFill/>
        </p:spPr>
        <p:txBody>
          <a:bodyPr wrap="square">
            <a:spAutoFit/>
          </a:bodyPr>
          <a:lstStyle/>
          <a:p>
            <a:r>
              <a:rPr sz="1200" b="0"/>
              <a:t>2024-07-10</a:t>
            </a:r>
          </a:p>
        </p:txBody>
      </p:sp>
      <p:sp>
        <p:nvSpPr>
          <p:cNvPr id="27" name="TextBox 26"/>
          <p:cNvSpPr txBox="1"/>
          <p:nvPr/>
        </p:nvSpPr>
        <p:spPr>
          <a:xfrm>
            <a:off x="7772400" y="3337560"/>
            <a:ext cx="1737360" cy="411480"/>
          </a:xfrm>
          <a:prstGeom prst="rect">
            <a:avLst/>
          </a:prstGeom>
          <a:noFill/>
        </p:spPr>
        <p:txBody>
          <a:bodyPr wrap="square">
            <a:spAutoFit/>
          </a:bodyPr>
          <a:lstStyle/>
          <a:p>
            <a:r>
              <a:rPr sz="1200" b="0"/>
              <a:t>10%</a:t>
            </a:r>
          </a:p>
        </p:txBody>
      </p:sp>
      <p:sp>
        <p:nvSpPr>
          <p:cNvPr id="28" name="TextBox 27"/>
          <p:cNvSpPr txBox="1"/>
          <p:nvPr/>
        </p:nvSpPr>
        <p:spPr>
          <a:xfrm>
            <a:off x="9692640" y="3337560"/>
            <a:ext cx="2286000" cy="411480"/>
          </a:xfrm>
          <a:prstGeom prst="rect">
            <a:avLst/>
          </a:prstGeom>
          <a:noFill/>
        </p:spPr>
        <p:txBody>
          <a:bodyPr wrap="square">
            <a:spAutoFit/>
          </a:bodyPr>
          <a:lstStyle/>
          <a:p>
            <a:r>
              <a:rPr sz="1200" b="1">
                <a:solidFill>
                  <a:srgbClr val="E53935"/>
                </a:solidFill>
              </a:rPr>
              <a:t>RED</a:t>
            </a:r>
          </a:p>
        </p:txBody>
      </p:sp>
      <p:sp>
        <p:nvSpPr>
          <p:cNvPr id="29" name="TextBox 28"/>
          <p:cNvSpPr txBox="1"/>
          <p:nvPr/>
        </p:nvSpPr>
        <p:spPr>
          <a:xfrm>
            <a:off x="365760" y="3840480"/>
            <a:ext cx="3383280" cy="411480"/>
          </a:xfrm>
          <a:prstGeom prst="rect">
            <a:avLst/>
          </a:prstGeom>
          <a:noFill/>
        </p:spPr>
        <p:txBody>
          <a:bodyPr wrap="square">
            <a:spAutoFit/>
          </a:bodyPr>
          <a:lstStyle/>
          <a:p>
            <a:r>
              <a:rPr sz="1200" b="0"/>
              <a:t>Stark Ind</a:t>
            </a:r>
          </a:p>
        </p:txBody>
      </p:sp>
      <p:sp>
        <p:nvSpPr>
          <p:cNvPr id="30" name="TextBox 29"/>
          <p:cNvSpPr txBox="1"/>
          <p:nvPr/>
        </p:nvSpPr>
        <p:spPr>
          <a:xfrm>
            <a:off x="3931920" y="3840480"/>
            <a:ext cx="1737360" cy="411480"/>
          </a:xfrm>
          <a:prstGeom prst="rect">
            <a:avLst/>
          </a:prstGeom>
          <a:noFill/>
        </p:spPr>
        <p:txBody>
          <a:bodyPr wrap="square">
            <a:spAutoFit/>
          </a:bodyPr>
          <a:lstStyle/>
          <a:p>
            <a:r>
              <a:rPr sz="1200" b="0"/>
              <a:t>$850,000</a:t>
            </a:r>
          </a:p>
        </p:txBody>
      </p:sp>
      <p:sp>
        <p:nvSpPr>
          <p:cNvPr id="31" name="TextBox 30"/>
          <p:cNvSpPr txBox="1"/>
          <p:nvPr/>
        </p:nvSpPr>
        <p:spPr>
          <a:xfrm>
            <a:off x="5852160" y="3840480"/>
            <a:ext cx="1737360" cy="411480"/>
          </a:xfrm>
          <a:prstGeom prst="rect">
            <a:avLst/>
          </a:prstGeom>
          <a:noFill/>
        </p:spPr>
        <p:txBody>
          <a:bodyPr wrap="square">
            <a:spAutoFit/>
          </a:bodyPr>
          <a:lstStyle/>
          <a:p>
            <a:r>
              <a:rPr sz="1200" b="0"/>
              <a:t>2024-06-05</a:t>
            </a:r>
          </a:p>
        </p:txBody>
      </p:sp>
      <p:sp>
        <p:nvSpPr>
          <p:cNvPr id="32" name="TextBox 31"/>
          <p:cNvSpPr txBox="1"/>
          <p:nvPr/>
        </p:nvSpPr>
        <p:spPr>
          <a:xfrm>
            <a:off x="7772400" y="3840480"/>
            <a:ext cx="1737360" cy="411480"/>
          </a:xfrm>
          <a:prstGeom prst="rect">
            <a:avLst/>
          </a:prstGeom>
          <a:noFill/>
        </p:spPr>
        <p:txBody>
          <a:bodyPr wrap="square">
            <a:spAutoFit/>
          </a:bodyPr>
          <a:lstStyle/>
          <a:p>
            <a:r>
              <a:rPr sz="1200" b="0"/>
              <a:t>30%</a:t>
            </a:r>
          </a:p>
        </p:txBody>
      </p:sp>
      <p:sp>
        <p:nvSpPr>
          <p:cNvPr id="33" name="TextBox 32"/>
          <p:cNvSpPr txBox="1"/>
          <p:nvPr/>
        </p:nvSpPr>
        <p:spPr>
          <a:xfrm>
            <a:off x="9692640" y="3840480"/>
            <a:ext cx="2286000" cy="411480"/>
          </a:xfrm>
          <a:prstGeom prst="rect">
            <a:avLst/>
          </a:prstGeom>
          <a:noFill/>
        </p:spPr>
        <p:txBody>
          <a:bodyPr wrap="square">
            <a:spAutoFit/>
          </a:bodyPr>
          <a:lstStyle/>
          <a:p>
            <a:r>
              <a:rPr sz="1200" b="1">
                <a:solidFill>
                  <a:srgbClr val="E53935"/>
                </a:solidFill>
              </a:rPr>
              <a:t>RED</a:t>
            </a:r>
          </a:p>
        </p:txBody>
      </p:sp>
      <p:sp>
        <p:nvSpPr>
          <p:cNvPr id="34" name="TextBox 33"/>
          <p:cNvSpPr txBox="1"/>
          <p:nvPr/>
        </p:nvSpPr>
        <p:spPr>
          <a:xfrm>
            <a:off x="365760" y="4343400"/>
            <a:ext cx="3383280" cy="411480"/>
          </a:xfrm>
          <a:prstGeom prst="rect">
            <a:avLst/>
          </a:prstGeom>
          <a:noFill/>
        </p:spPr>
        <p:txBody>
          <a:bodyPr wrap="square">
            <a:spAutoFit/>
          </a:bodyPr>
          <a:lstStyle/>
          <a:p>
            <a:r>
              <a:rPr sz="1200" b="0"/>
              <a:t>Wayne Ent</a:t>
            </a:r>
          </a:p>
        </p:txBody>
      </p:sp>
      <p:sp>
        <p:nvSpPr>
          <p:cNvPr id="35" name="TextBox 34"/>
          <p:cNvSpPr txBox="1"/>
          <p:nvPr/>
        </p:nvSpPr>
        <p:spPr>
          <a:xfrm>
            <a:off x="3931920" y="4343400"/>
            <a:ext cx="1737360" cy="411480"/>
          </a:xfrm>
          <a:prstGeom prst="rect">
            <a:avLst/>
          </a:prstGeom>
          <a:noFill/>
        </p:spPr>
        <p:txBody>
          <a:bodyPr wrap="square">
            <a:spAutoFit/>
          </a:bodyPr>
          <a:lstStyle/>
          <a:p>
            <a:r>
              <a:rPr sz="1200" b="0"/>
              <a:t>$500,000</a:t>
            </a:r>
          </a:p>
        </p:txBody>
      </p:sp>
      <p:sp>
        <p:nvSpPr>
          <p:cNvPr id="36" name="TextBox 35"/>
          <p:cNvSpPr txBox="1"/>
          <p:nvPr/>
        </p:nvSpPr>
        <p:spPr>
          <a:xfrm>
            <a:off x="5852160" y="4343400"/>
            <a:ext cx="1737360" cy="411480"/>
          </a:xfrm>
          <a:prstGeom prst="rect">
            <a:avLst/>
          </a:prstGeom>
          <a:noFill/>
        </p:spPr>
        <p:txBody>
          <a:bodyPr wrap="square">
            <a:spAutoFit/>
          </a:bodyPr>
          <a:lstStyle/>
          <a:p>
            <a:r>
              <a:rPr sz="1200" b="0"/>
              <a:t>2024-06-25</a:t>
            </a:r>
          </a:p>
        </p:txBody>
      </p:sp>
      <p:sp>
        <p:nvSpPr>
          <p:cNvPr id="37" name="TextBox 36"/>
          <p:cNvSpPr txBox="1"/>
          <p:nvPr/>
        </p:nvSpPr>
        <p:spPr>
          <a:xfrm>
            <a:off x="7772400" y="4343400"/>
            <a:ext cx="1737360" cy="411480"/>
          </a:xfrm>
          <a:prstGeom prst="rect">
            <a:avLst/>
          </a:prstGeom>
          <a:noFill/>
        </p:spPr>
        <p:txBody>
          <a:bodyPr wrap="square">
            <a:spAutoFit/>
          </a:bodyPr>
          <a:lstStyle/>
          <a:p>
            <a:r>
              <a:rPr sz="1200" b="0"/>
              <a:t>45%</a:t>
            </a:r>
          </a:p>
        </p:txBody>
      </p:sp>
      <p:sp>
        <p:nvSpPr>
          <p:cNvPr id="38" name="TextBox 37"/>
          <p:cNvSpPr txBox="1"/>
          <p:nvPr/>
        </p:nvSpPr>
        <p:spPr>
          <a:xfrm>
            <a:off x="9692640" y="4343400"/>
            <a:ext cx="2286000" cy="411480"/>
          </a:xfrm>
          <a:prstGeom prst="rect">
            <a:avLst/>
          </a:prstGeom>
          <a:noFill/>
        </p:spPr>
        <p:txBody>
          <a:bodyPr wrap="square">
            <a:spAutoFit/>
          </a:bodyPr>
          <a:lstStyle/>
          <a:p>
            <a:r>
              <a:rPr sz="1200" b="1">
                <a:solidFill>
                  <a:srgbClr val="E53935"/>
                </a:solidFill>
              </a:rPr>
              <a:t>RED</a:t>
            </a:r>
          </a:p>
        </p:txBody>
      </p:sp>
      <p:sp>
        <p:nvSpPr>
          <p:cNvPr id="39" name="TextBox 38"/>
          <p:cNvSpPr txBox="1"/>
          <p:nvPr/>
        </p:nvSpPr>
        <p:spPr>
          <a:xfrm>
            <a:off x="365760" y="4846320"/>
            <a:ext cx="3383280" cy="411480"/>
          </a:xfrm>
          <a:prstGeom prst="rect">
            <a:avLst/>
          </a:prstGeom>
          <a:noFill/>
        </p:spPr>
        <p:txBody>
          <a:bodyPr wrap="square">
            <a:spAutoFit/>
          </a:bodyPr>
          <a:lstStyle/>
          <a:p>
            <a:r>
              <a:rPr sz="1200" b="0"/>
              <a:t>Cyberdyne</a:t>
            </a:r>
          </a:p>
        </p:txBody>
      </p:sp>
      <p:sp>
        <p:nvSpPr>
          <p:cNvPr id="40" name="TextBox 39"/>
          <p:cNvSpPr txBox="1"/>
          <p:nvPr/>
        </p:nvSpPr>
        <p:spPr>
          <a:xfrm>
            <a:off x="3931920" y="4846320"/>
            <a:ext cx="1737360" cy="411480"/>
          </a:xfrm>
          <a:prstGeom prst="rect">
            <a:avLst/>
          </a:prstGeom>
          <a:noFill/>
        </p:spPr>
        <p:txBody>
          <a:bodyPr wrap="square">
            <a:spAutoFit/>
          </a:bodyPr>
          <a:lstStyle/>
          <a:p>
            <a:r>
              <a:rPr sz="1200" b="0"/>
              <a:t>$900,000</a:t>
            </a:r>
          </a:p>
        </p:txBody>
      </p:sp>
      <p:sp>
        <p:nvSpPr>
          <p:cNvPr id="41" name="TextBox 40"/>
          <p:cNvSpPr txBox="1"/>
          <p:nvPr/>
        </p:nvSpPr>
        <p:spPr>
          <a:xfrm>
            <a:off x="5852160" y="4846320"/>
            <a:ext cx="1737360" cy="411480"/>
          </a:xfrm>
          <a:prstGeom prst="rect">
            <a:avLst/>
          </a:prstGeom>
          <a:noFill/>
        </p:spPr>
        <p:txBody>
          <a:bodyPr wrap="square">
            <a:spAutoFit/>
          </a:bodyPr>
          <a:lstStyle/>
          <a:p>
            <a:r>
              <a:rPr sz="1200" b="0"/>
              <a:t>2024-06-10</a:t>
            </a:r>
          </a:p>
        </p:txBody>
      </p:sp>
      <p:sp>
        <p:nvSpPr>
          <p:cNvPr id="42" name="TextBox 41"/>
          <p:cNvSpPr txBox="1"/>
          <p:nvPr/>
        </p:nvSpPr>
        <p:spPr>
          <a:xfrm>
            <a:off x="7772400" y="4846320"/>
            <a:ext cx="1737360" cy="411480"/>
          </a:xfrm>
          <a:prstGeom prst="rect">
            <a:avLst/>
          </a:prstGeom>
          <a:noFill/>
        </p:spPr>
        <p:txBody>
          <a:bodyPr wrap="square">
            <a:spAutoFit/>
          </a:bodyPr>
          <a:lstStyle/>
          <a:p>
            <a:r>
              <a:rPr sz="1200" b="0"/>
              <a:t>75%</a:t>
            </a:r>
          </a:p>
        </p:txBody>
      </p:sp>
      <p:sp>
        <p:nvSpPr>
          <p:cNvPr id="43" name="TextBox 42"/>
          <p:cNvSpPr txBox="1"/>
          <p:nvPr/>
        </p:nvSpPr>
        <p:spPr>
          <a:xfrm>
            <a:off x="9692640" y="4846320"/>
            <a:ext cx="2286000" cy="411480"/>
          </a:xfrm>
          <a:prstGeom prst="rect">
            <a:avLst/>
          </a:prstGeom>
          <a:noFill/>
        </p:spPr>
        <p:txBody>
          <a:bodyPr wrap="square">
            <a:spAutoFit/>
          </a:bodyPr>
          <a:lstStyle/>
          <a:p>
            <a:r>
              <a:rPr sz="1200" b="1">
                <a:solidFill>
                  <a:srgbClr val="F5A623"/>
                </a:solidFill>
              </a:rPr>
              <a:t>AMBER</a:t>
            </a:r>
          </a:p>
        </p:txBody>
      </p:sp>
      <p:sp>
        <p:nvSpPr>
          <p:cNvPr id="44" name="TextBox 43"/>
          <p:cNvSpPr txBox="1"/>
          <p:nvPr/>
        </p:nvSpPr>
        <p:spPr>
          <a:xfrm>
            <a:off x="365760" y="5349240"/>
            <a:ext cx="3383280" cy="411480"/>
          </a:xfrm>
          <a:prstGeom prst="rect">
            <a:avLst/>
          </a:prstGeom>
          <a:noFill/>
        </p:spPr>
        <p:txBody>
          <a:bodyPr wrap="square">
            <a:spAutoFit/>
          </a:bodyPr>
          <a:lstStyle/>
          <a:p>
            <a:r>
              <a:rPr sz="1200" b="0"/>
              <a:t>Massive Dynamic</a:t>
            </a:r>
          </a:p>
        </p:txBody>
      </p:sp>
      <p:sp>
        <p:nvSpPr>
          <p:cNvPr id="45" name="TextBox 44"/>
          <p:cNvSpPr txBox="1"/>
          <p:nvPr/>
        </p:nvSpPr>
        <p:spPr>
          <a:xfrm>
            <a:off x="3931920" y="5349240"/>
            <a:ext cx="1737360" cy="411480"/>
          </a:xfrm>
          <a:prstGeom prst="rect">
            <a:avLst/>
          </a:prstGeom>
          <a:noFill/>
        </p:spPr>
        <p:txBody>
          <a:bodyPr wrap="square">
            <a:spAutoFit/>
          </a:bodyPr>
          <a:lstStyle/>
          <a:p>
            <a:r>
              <a:rPr sz="1200" b="0"/>
              <a:t>$720,000</a:t>
            </a:r>
          </a:p>
        </p:txBody>
      </p:sp>
      <p:sp>
        <p:nvSpPr>
          <p:cNvPr id="46" name="TextBox 45"/>
          <p:cNvSpPr txBox="1"/>
          <p:nvPr/>
        </p:nvSpPr>
        <p:spPr>
          <a:xfrm>
            <a:off x="5852160" y="5349240"/>
            <a:ext cx="1737360" cy="411480"/>
          </a:xfrm>
          <a:prstGeom prst="rect">
            <a:avLst/>
          </a:prstGeom>
          <a:noFill/>
        </p:spPr>
        <p:txBody>
          <a:bodyPr wrap="square">
            <a:spAutoFit/>
          </a:bodyPr>
          <a:lstStyle/>
          <a:p>
            <a:r>
              <a:rPr sz="1200" b="0"/>
              <a:t>2024-05-28</a:t>
            </a:r>
          </a:p>
        </p:txBody>
      </p:sp>
      <p:sp>
        <p:nvSpPr>
          <p:cNvPr id="47" name="TextBox 46"/>
          <p:cNvSpPr txBox="1"/>
          <p:nvPr/>
        </p:nvSpPr>
        <p:spPr>
          <a:xfrm>
            <a:off x="7772400" y="5349240"/>
            <a:ext cx="1737360" cy="411480"/>
          </a:xfrm>
          <a:prstGeom prst="rect">
            <a:avLst/>
          </a:prstGeom>
          <a:noFill/>
        </p:spPr>
        <p:txBody>
          <a:bodyPr wrap="square">
            <a:spAutoFit/>
          </a:bodyPr>
          <a:lstStyle/>
          <a:p>
            <a:r>
              <a:rPr sz="1200" b="0"/>
              <a:t>90%</a:t>
            </a:r>
          </a:p>
        </p:txBody>
      </p:sp>
      <p:sp>
        <p:nvSpPr>
          <p:cNvPr id="48" name="TextBox 47"/>
          <p:cNvSpPr txBox="1"/>
          <p:nvPr/>
        </p:nvSpPr>
        <p:spPr>
          <a:xfrm>
            <a:off x="9692640" y="5349240"/>
            <a:ext cx="2286000" cy="411480"/>
          </a:xfrm>
          <a:prstGeom prst="rect">
            <a:avLst/>
          </a:prstGeom>
          <a:noFill/>
        </p:spPr>
        <p:txBody>
          <a:bodyPr wrap="square">
            <a:spAutoFit/>
          </a:bodyPr>
          <a:lstStyle/>
          <a:p>
            <a:r>
              <a:rPr sz="1200" b="1">
                <a:solidFill>
                  <a:srgbClr val="1DB954"/>
                </a:solidFill>
              </a:rPr>
              <a:t>GREEN</a:t>
            </a:r>
          </a:p>
        </p:txBody>
      </p:sp>
      <p:sp>
        <p:nvSpPr>
          <p:cNvPr id="49" name="TextBox 48"/>
          <p:cNvSpPr txBox="1"/>
          <p:nvPr/>
        </p:nvSpPr>
        <p:spPr>
          <a:xfrm>
            <a:off x="365760" y="5852160"/>
            <a:ext cx="3383280" cy="411480"/>
          </a:xfrm>
          <a:prstGeom prst="rect">
            <a:avLst/>
          </a:prstGeom>
          <a:noFill/>
        </p:spPr>
        <p:txBody>
          <a:bodyPr wrap="square">
            <a:spAutoFit/>
          </a:bodyPr>
          <a:lstStyle/>
          <a:p>
            <a:r>
              <a:rPr sz="1200" b="0"/>
              <a:t>Oscorp</a:t>
            </a:r>
          </a:p>
        </p:txBody>
      </p:sp>
      <p:sp>
        <p:nvSpPr>
          <p:cNvPr id="50" name="TextBox 49"/>
          <p:cNvSpPr txBox="1"/>
          <p:nvPr/>
        </p:nvSpPr>
        <p:spPr>
          <a:xfrm>
            <a:off x="3931920" y="5852160"/>
            <a:ext cx="1737360" cy="411480"/>
          </a:xfrm>
          <a:prstGeom prst="rect">
            <a:avLst/>
          </a:prstGeom>
          <a:noFill/>
        </p:spPr>
        <p:txBody>
          <a:bodyPr wrap="square">
            <a:spAutoFit/>
          </a:bodyPr>
          <a:lstStyle/>
          <a:p>
            <a:r>
              <a:rPr sz="1200" b="0"/>
              <a:t>$250,000</a:t>
            </a:r>
          </a:p>
        </p:txBody>
      </p:sp>
      <p:sp>
        <p:nvSpPr>
          <p:cNvPr id="51" name="TextBox 50"/>
          <p:cNvSpPr txBox="1"/>
          <p:nvPr/>
        </p:nvSpPr>
        <p:spPr>
          <a:xfrm>
            <a:off x="5852160" y="5852160"/>
            <a:ext cx="1737360" cy="411480"/>
          </a:xfrm>
          <a:prstGeom prst="rect">
            <a:avLst/>
          </a:prstGeom>
          <a:noFill/>
        </p:spPr>
        <p:txBody>
          <a:bodyPr wrap="square">
            <a:spAutoFit/>
          </a:bodyPr>
          <a:lstStyle/>
          <a:p>
            <a:r>
              <a:rPr sz="1200" b="0"/>
              <a:t>2024-05-25</a:t>
            </a:r>
          </a:p>
        </p:txBody>
      </p:sp>
      <p:sp>
        <p:nvSpPr>
          <p:cNvPr id="52" name="TextBox 51"/>
          <p:cNvSpPr txBox="1"/>
          <p:nvPr/>
        </p:nvSpPr>
        <p:spPr>
          <a:xfrm>
            <a:off x="7772400" y="5852160"/>
            <a:ext cx="1737360" cy="411480"/>
          </a:xfrm>
          <a:prstGeom prst="rect">
            <a:avLst/>
          </a:prstGeom>
          <a:noFill/>
        </p:spPr>
        <p:txBody>
          <a:bodyPr wrap="square">
            <a:spAutoFit/>
          </a:bodyPr>
          <a:lstStyle/>
          <a:p>
            <a:r>
              <a:rPr sz="1200" b="0"/>
              <a:t>90%</a:t>
            </a:r>
          </a:p>
        </p:txBody>
      </p:sp>
      <p:sp>
        <p:nvSpPr>
          <p:cNvPr id="53" name="TextBox 52"/>
          <p:cNvSpPr txBox="1"/>
          <p:nvPr/>
        </p:nvSpPr>
        <p:spPr>
          <a:xfrm>
            <a:off x="9692640" y="5852160"/>
            <a:ext cx="2286000" cy="411480"/>
          </a:xfrm>
          <a:prstGeom prst="rect">
            <a:avLst/>
          </a:prstGeom>
          <a:noFill/>
        </p:spPr>
        <p:txBody>
          <a:bodyPr wrap="square">
            <a:spAutoFit/>
          </a:bodyPr>
          <a:lstStyle/>
          <a:p>
            <a:r>
              <a:rPr sz="1200" b="1">
                <a:solidFill>
                  <a:srgbClr val="1DB954"/>
                </a:solidFill>
              </a:rPr>
              <a:t>GREEN</a:t>
            </a:r>
          </a:p>
        </p:txBody>
      </p:sp>
      <p:sp>
        <p:nvSpPr>
          <p:cNvPr id="54" name="TextBox 53"/>
          <p:cNvSpPr txBox="1"/>
          <p:nvPr/>
        </p:nvSpPr>
        <p:spPr>
          <a:xfrm>
            <a:off x="365760" y="6355080"/>
            <a:ext cx="3383280" cy="411480"/>
          </a:xfrm>
          <a:prstGeom prst="rect">
            <a:avLst/>
          </a:prstGeom>
          <a:noFill/>
        </p:spPr>
        <p:txBody>
          <a:bodyPr wrap="square">
            <a:spAutoFit/>
          </a:bodyPr>
          <a:lstStyle/>
          <a:p>
            <a:r>
              <a:rPr sz="1200" b="0"/>
              <a:t>Hooli</a:t>
            </a:r>
          </a:p>
        </p:txBody>
      </p:sp>
      <p:sp>
        <p:nvSpPr>
          <p:cNvPr id="55" name="TextBox 54"/>
          <p:cNvSpPr txBox="1"/>
          <p:nvPr/>
        </p:nvSpPr>
        <p:spPr>
          <a:xfrm>
            <a:off x="3931920" y="6355080"/>
            <a:ext cx="1737360" cy="411480"/>
          </a:xfrm>
          <a:prstGeom prst="rect">
            <a:avLst/>
          </a:prstGeom>
          <a:noFill/>
        </p:spPr>
        <p:txBody>
          <a:bodyPr wrap="square">
            <a:spAutoFit/>
          </a:bodyPr>
          <a:lstStyle/>
          <a:p>
            <a:r>
              <a:rPr sz="1200" b="0"/>
              <a:t>$120,000</a:t>
            </a:r>
          </a:p>
        </p:txBody>
      </p:sp>
      <p:sp>
        <p:nvSpPr>
          <p:cNvPr id="56" name="TextBox 55"/>
          <p:cNvSpPr txBox="1"/>
          <p:nvPr/>
        </p:nvSpPr>
        <p:spPr>
          <a:xfrm>
            <a:off x="5852160" y="6355080"/>
            <a:ext cx="1737360" cy="411480"/>
          </a:xfrm>
          <a:prstGeom prst="rect">
            <a:avLst/>
          </a:prstGeom>
          <a:noFill/>
        </p:spPr>
        <p:txBody>
          <a:bodyPr wrap="square">
            <a:spAutoFit/>
          </a:bodyPr>
          <a:lstStyle/>
          <a:p>
            <a:r>
              <a:rPr sz="1200" b="0"/>
              <a:t>2024-05-22</a:t>
            </a:r>
          </a:p>
        </p:txBody>
      </p:sp>
      <p:sp>
        <p:nvSpPr>
          <p:cNvPr id="57" name="TextBox 56"/>
          <p:cNvSpPr txBox="1"/>
          <p:nvPr/>
        </p:nvSpPr>
        <p:spPr>
          <a:xfrm>
            <a:off x="7772400" y="6355080"/>
            <a:ext cx="1737360" cy="411480"/>
          </a:xfrm>
          <a:prstGeom prst="rect">
            <a:avLst/>
          </a:prstGeom>
          <a:noFill/>
        </p:spPr>
        <p:txBody>
          <a:bodyPr wrap="square">
            <a:spAutoFit/>
          </a:bodyPr>
          <a:lstStyle/>
          <a:p>
            <a:r>
              <a:rPr sz="1200" b="0"/>
              <a:t>90%</a:t>
            </a:r>
          </a:p>
        </p:txBody>
      </p:sp>
      <p:sp>
        <p:nvSpPr>
          <p:cNvPr id="58" name="TextBox 57"/>
          <p:cNvSpPr txBox="1"/>
          <p:nvPr/>
        </p:nvSpPr>
        <p:spPr>
          <a:xfrm>
            <a:off x="9692640" y="6355080"/>
            <a:ext cx="2286000" cy="411480"/>
          </a:xfrm>
          <a:prstGeom prst="rect">
            <a:avLst/>
          </a:prstGeom>
          <a:noFill/>
        </p:spPr>
        <p:txBody>
          <a:bodyPr wrap="square">
            <a:spAutoFit/>
          </a:bodyPr>
          <a:lstStyle/>
          <a:p>
            <a:r>
              <a:rPr sz="1200" b="1">
                <a:solidFill>
                  <a:srgbClr val="1DB954"/>
                </a:solidFill>
              </a:rPr>
              <a:t>GREEN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Initech</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E53935"/>
                </a:solidFill>
              </a:rPr>
              <a:t>RED</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$450,000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2024-05-30</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0%</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E53935"/>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RED | Initech
* **Pipeline Impact:** $450,000 | **Target Close:** 2024-05-30 | **Health:** 0/100
* **The Bottom Line:** Initech's champion, John Smith, has expressed concerns about ROI, and the customer has stalled on the contract review. We need to address these concerns and re-engage John to move the deal forward.
* **Manager Action Today:** Schedule a call with John Smith to discuss Initech's ROI concerns and re-iterate the value proposition.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Acme Corp</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E53935"/>
                </a:solidFill>
              </a:rPr>
              <a:t>RED</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$340,000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2024-06-15</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0%</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E53935"/>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RED | Acme Corp
* **Pipeline Impact:** $340,000 | **Target Close:** 2024-06-15 | **Health:** 0/100
* **The Bottom Line:** Acme Corp's deal momentum has stalled due to ongoing budget approval delays, and key decision-maker, Rachel Lee, has expressed concerns about ROI. Champion, John Smith, is still engaged but needs to escalate the issue to secure approval.
* **Manager Action Today:** Escalate the issue to Rachel Lee and offer a revised ROI analysis to address her concerns.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Globex Inc</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E53935"/>
                </a:solidFill>
              </a:rPr>
              <a:t>RED</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$180,000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2024-06-20</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5%</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E53935"/>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RED | Globex Inc
* **Pipeline Impact:** $180,000 | **Target Close:** 2024-06-20 | **Health:** 5/100
* **The Bottom Line:** The deal is at risk due to a 30-day delay in the champion's decision-making process, and the customer has raised concerns about the total cost of ownership. The sales team needs to address these concerns and re-engage the champion to get the deal back on track.
* **Manager Action Today:** Schedule a call with the champion to discuss the total cost of ownership and provide a revised proposal to alleviate their concerns.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Umbrella Corp</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E53935"/>
                </a:solidFill>
              </a:rPr>
              <a:t>RED</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$650,000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2024-07-10</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10%</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E53935"/>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RED | Umbrella Corp
* **Pipeline Impact:** $650,000 | **Target Close:** 2024-07-10 | **Health:** 10/100
* **The Bottom Line:** The deal is at risk due to a 30-day delay in the decision-making process, and the champion, Rachel Lee, has expressed concerns about the total cost of ownership. We need to address these concerns and expedite the decision-making process to meet the target close date.
* **Manager Action Today:** Schedule a call with Rachel Lee to discuss the total cost of ownership and provide a revised proposal to alleviate her concerns.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Stark Ind</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E53935"/>
                </a:solidFill>
              </a:rPr>
              <a:t>RED</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$850,000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2024-06-05</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30%</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E53935"/>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RED | Stark Ind
* **Pipeline Impact:** $850,000 | **Target Close:** 2024-06-05 | **Health:** 30/100
* **The Bottom Line:** The deal's health is at 30% due to a 3-week delay in the champion's decision-making process, which has stalled the contract negotiation. The sales team needs to re-engage the champion, John Lee, to overcome the objection about pricing.
* **Manager Action Today:** Re-engage John Lee with a call to discuss pricing concerns and provide a revised proposal by EOD.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Wayne Ent</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E53935"/>
                </a:solidFill>
              </a:rPr>
              <a:t>RED</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$500,000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2024-06-25</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45%</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E53935"/>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RED | Wayne Ent
* **Pipeline Impact:** $500,000 | **Target Close:** 2024-06-25 | **Health:** 45/100
* **The Bottom Line:** Wayne Ent's pipeline is at risk due to a 30-day delay in champion feedback and a 20% drop in decision-maker engagement. Champion, Rachel Lee, has expressed concerns about ROI, which needs to be addressed ASAP.
* **Manager Action Today:** Schedule a call with Rachel Lee to discuss ROI concerns and provide a customized case study to alleviate her doubts.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Cyberdyne</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F5A623"/>
                </a:solidFill>
              </a:rPr>
              <a:t>AMBER</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$900,000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2024-06-10</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75%</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F5A623"/>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AMBER | Cyberdyne
* **Pipeline Impact:** $900,000 | **Target Close:** 2024-06-10 | **Health:** 75/100
* **The Bottom Line:** The deal's health is at 75% due to a 30-day delay in the champion's decision-making process, which is causing a ripple effect on the sales timeline. The sales team needs to re-engage the champion, John Lee, to address his concerns and get the deal back on track.
* **Manager Action Today:** Re-engage John Lee via a high-touch outreach to discuss and address his concerns, and schedule a follow-up meeting to re-iterate the value proposition.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Massive Dynamic</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1DB954"/>
                </a:solidFill>
              </a:rPr>
              <a:t>GREEN</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$720,000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2024-05-28</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90%</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1DB954"/>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GREEN | Massive Dynamic
* **Pipeline Impact:** $720,000 | **Target Close:** 2024-05-28 | **Health:** 90/100
* **The Bottom Line:** The deal is on track to meet its target close date, driven by strong champion support from John Lee. However, we need to address the lingering objection around pricing, which is currently at 20% of the total value.
* **Manager Action Today:** Schedule a call with John Lee to discuss pricing and finalize the agreement by the end of the week.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Oscorp</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1DB954"/>
                </a:solidFill>
              </a:rPr>
              <a:t>GREEN</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$250,000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2024-05-25</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90%</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1DB954"/>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GREEN | Oscorp
* **Pipeline Impact:** $250,000 | **Target Close:** 2024-05-25 | **Health:** 90/100
* **The Bottom Line:** Oscorp's champion, Rachel Lee, has expressed enthusiasm for the solution, but we're seeing a slight delay in decision-making due to internal budget discussions. We need to address these concerns and provide a clear ROI analysis to move the deal forward.
* **Manager Action Today:** Schedule a call with Rachel Lee to discuss budget constraints and provide a customized ROI presentation to alleviate concerns.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9144000" cy="685800"/>
          </a:xfrm>
          <a:prstGeom prst="rect">
            <a:avLst/>
          </a:prstGeom>
          <a:noFill/>
        </p:spPr>
        <p:txBody>
          <a:bodyPr wrap="square">
            <a:spAutoFit/>
          </a:bodyPr>
          <a:lstStyle/>
          <a:p>
            <a:r>
              <a:rPr sz="3200" b="1"/>
              <a:t>Hooli</a:t>
            </a:r>
          </a:p>
        </p:txBody>
      </p:sp>
      <p:sp>
        <p:nvSpPr>
          <p:cNvPr id="3" name="TextBox 2"/>
          <p:cNvSpPr txBox="1"/>
          <p:nvPr/>
        </p:nvSpPr>
        <p:spPr>
          <a:xfrm>
            <a:off x="10058400" y="228600"/>
            <a:ext cx="1828800" cy="502920"/>
          </a:xfrm>
          <a:prstGeom prst="rect">
            <a:avLst/>
          </a:prstGeom>
          <a:noFill/>
        </p:spPr>
        <p:txBody>
          <a:bodyPr wrap="square">
            <a:spAutoFit/>
          </a:bodyPr>
          <a:lstStyle/>
          <a:p>
            <a:r>
              <a:rPr sz="1600" b="1">
                <a:solidFill>
                  <a:srgbClr val="1DB954"/>
                </a:solidFill>
              </a:rPr>
              <a:t>GREEN</a:t>
            </a:r>
          </a:p>
        </p:txBody>
      </p:sp>
      <p:sp>
        <p:nvSpPr>
          <p:cNvPr id="4" name="TextBox 3"/>
          <p:cNvSpPr txBox="1"/>
          <p:nvPr/>
        </p:nvSpPr>
        <p:spPr>
          <a:xfrm>
            <a:off x="365760" y="1097280"/>
            <a:ext cx="3474720" cy="274320"/>
          </a:xfrm>
          <a:prstGeom prst="rect">
            <a:avLst/>
          </a:prstGeom>
          <a:noFill/>
        </p:spPr>
        <p:txBody>
          <a:bodyPr wrap="square">
            <a:spAutoFit/>
          </a:bodyPr>
          <a:lstStyle/>
          <a:p>
            <a:r>
              <a:rPr sz="1000" b="0">
                <a:solidFill>
                  <a:srgbClr val="888899"/>
                </a:solidFill>
              </a:rPr>
              <a:t>VALUE</a:t>
            </a:r>
          </a:p>
        </p:txBody>
      </p:sp>
      <p:sp>
        <p:nvSpPr>
          <p:cNvPr id="5" name="TextBox 4"/>
          <p:cNvSpPr txBox="1"/>
          <p:nvPr/>
        </p:nvSpPr>
        <p:spPr>
          <a:xfrm>
            <a:off x="365760" y="1371600"/>
            <a:ext cx="3474720" cy="457200"/>
          </a:xfrm>
          <a:prstGeom prst="rect">
            <a:avLst/>
          </a:prstGeom>
          <a:noFill/>
        </p:spPr>
        <p:txBody>
          <a:bodyPr wrap="square">
            <a:spAutoFit/>
          </a:bodyPr>
          <a:lstStyle/>
          <a:p>
            <a:r>
              <a:rPr sz="2200" b="1"/>
              <a:t>$120,000</a:t>
            </a:r>
          </a:p>
        </p:txBody>
      </p:sp>
      <p:sp>
        <p:nvSpPr>
          <p:cNvPr id="6" name="TextBox 5"/>
          <p:cNvSpPr txBox="1"/>
          <p:nvPr/>
        </p:nvSpPr>
        <p:spPr>
          <a:xfrm>
            <a:off x="4206240" y="1097280"/>
            <a:ext cx="3474720" cy="274320"/>
          </a:xfrm>
          <a:prstGeom prst="rect">
            <a:avLst/>
          </a:prstGeom>
          <a:noFill/>
        </p:spPr>
        <p:txBody>
          <a:bodyPr wrap="square">
            <a:spAutoFit/>
          </a:bodyPr>
          <a:lstStyle/>
          <a:p>
            <a:r>
              <a:rPr sz="1000" b="0">
                <a:solidFill>
                  <a:srgbClr val="888899"/>
                </a:solidFill>
              </a:rPr>
              <a:t>CLOSE DATE</a:t>
            </a:r>
          </a:p>
        </p:txBody>
      </p:sp>
      <p:sp>
        <p:nvSpPr>
          <p:cNvPr id="7" name="TextBox 6"/>
          <p:cNvSpPr txBox="1"/>
          <p:nvPr/>
        </p:nvSpPr>
        <p:spPr>
          <a:xfrm>
            <a:off x="4206240" y="1371600"/>
            <a:ext cx="3474720" cy="457200"/>
          </a:xfrm>
          <a:prstGeom prst="rect">
            <a:avLst/>
          </a:prstGeom>
          <a:noFill/>
        </p:spPr>
        <p:txBody>
          <a:bodyPr wrap="square">
            <a:spAutoFit/>
          </a:bodyPr>
          <a:lstStyle/>
          <a:p>
            <a:r>
              <a:rPr sz="2200" b="1"/>
              <a:t>2024-05-22</a:t>
            </a:r>
          </a:p>
        </p:txBody>
      </p:sp>
      <p:sp>
        <p:nvSpPr>
          <p:cNvPr id="8" name="TextBox 7"/>
          <p:cNvSpPr txBox="1"/>
          <p:nvPr/>
        </p:nvSpPr>
        <p:spPr>
          <a:xfrm>
            <a:off x="8046720" y="1097280"/>
            <a:ext cx="3474720" cy="274320"/>
          </a:xfrm>
          <a:prstGeom prst="rect">
            <a:avLst/>
          </a:prstGeom>
          <a:noFill/>
        </p:spPr>
        <p:txBody>
          <a:bodyPr wrap="square">
            <a:spAutoFit/>
          </a:bodyPr>
          <a:lstStyle/>
          <a:p>
            <a:r>
              <a:rPr sz="1000" b="0">
                <a:solidFill>
                  <a:srgbClr val="888899"/>
                </a:solidFill>
              </a:rPr>
              <a:t>SCORE</a:t>
            </a:r>
          </a:p>
        </p:txBody>
      </p:sp>
      <p:sp>
        <p:nvSpPr>
          <p:cNvPr id="9" name="TextBox 8"/>
          <p:cNvSpPr txBox="1"/>
          <p:nvPr/>
        </p:nvSpPr>
        <p:spPr>
          <a:xfrm>
            <a:off x="8046720" y="1371600"/>
            <a:ext cx="3474720" cy="457200"/>
          </a:xfrm>
          <a:prstGeom prst="rect">
            <a:avLst/>
          </a:prstGeom>
          <a:noFill/>
        </p:spPr>
        <p:txBody>
          <a:bodyPr wrap="square">
            <a:spAutoFit/>
          </a:bodyPr>
          <a:lstStyle/>
          <a:p>
            <a:r>
              <a:rPr sz="2200" b="1"/>
              <a:t>90%</a:t>
            </a:r>
          </a:p>
        </p:txBody>
      </p:sp>
      <p:sp>
        <p:nvSpPr>
          <p:cNvPr id="10" name="TextBox 9"/>
          <p:cNvSpPr txBox="1"/>
          <p:nvPr/>
        </p:nvSpPr>
        <p:spPr>
          <a:xfrm>
            <a:off x="365760" y="2103120"/>
            <a:ext cx="11430000" cy="320040"/>
          </a:xfrm>
          <a:prstGeom prst="rect">
            <a:avLst/>
          </a:prstGeom>
          <a:noFill/>
        </p:spPr>
        <p:txBody>
          <a:bodyPr wrap="square">
            <a:spAutoFit/>
          </a:bodyPr>
          <a:lstStyle/>
          <a:p>
            <a:r>
              <a:rPr sz="1100" b="1">
                <a:solidFill>
                  <a:srgbClr val="1DB954"/>
                </a:solidFill>
              </a:rPr>
              <a:t>DEAL SUMMARY</a:t>
            </a:r>
          </a:p>
        </p:txBody>
      </p:sp>
      <p:sp>
        <p:nvSpPr>
          <p:cNvPr id="11" name="TextBox 10"/>
          <p:cNvSpPr txBox="1"/>
          <p:nvPr/>
        </p:nvSpPr>
        <p:spPr>
          <a:xfrm>
            <a:off x="365760" y="2514600"/>
            <a:ext cx="11430000" cy="2286000"/>
          </a:xfrm>
          <a:prstGeom prst="rect">
            <a:avLst/>
          </a:prstGeom>
          <a:noFill/>
        </p:spPr>
        <p:txBody>
          <a:bodyPr wrap="square">
            <a:spAutoFit/>
          </a:bodyPr>
          <a:lstStyle/>
          <a:p>
            <a:r>
              <a:rPr sz="1300" b="0"/>
              <a:t>### 🟢 GREEN | Hooli
* **Pipeline Impact:** $120,000 | **Target Close:** 2024-05-22 | **Health:** 90/100
* **The Bottom Line:** Hooli's champion, Karen, has expressed enthusiasm for the solution, but we're seeing a slight delay in decision-making due to internal budget constraints. We need to address these concerns and provide a clear ROI analysis to move the deal forward.
* **Manager Action Today:** Schedule a call with Karen to discuss budget allocation and provide a customized ROI presentation to alleviate her concerns.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